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60" y="7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B2D74-6ED3-4B45-8DDD-868965D57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F2D61-7C79-4FBB-8969-2A35C0CB3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B53EB-4DCD-464D-AF43-238022D043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D810C-299C-4FD7-8501-55950C7DEF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445DC-65C6-4376-A991-04794DD403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505F1-E7DA-4A55-93D8-DCA86DBD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89883-312E-43AE-9C8E-5DEAFCB66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C0DAB-4BFD-40B9-98A1-17669356B7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5D922-4B28-4F03-8141-DDCF257AD5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61689-A4B3-43BF-AEEE-3612CACE7C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1CAF-F053-44EA-B206-E6B28411B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C8B5F-3D9B-42D7-ADED-F2D025473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AAF62-652A-4FC4-980C-A821CD389D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3E94-AFC4-491B-A3D5-8F54464213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75810-EA10-4275-A318-3239FD8692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4DCBF-AE30-4E6E-84E6-92FE46859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D592D-6E97-4A00-87CA-5F65C88C2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6713A-5284-4A95-8FB5-A3402D4DF31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6E6B2-435B-4CC5-98E2-35C079418C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806A7-55E6-4604-942D-0B320569AE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02924-E577-4BC1-9255-F5D0145F3F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FDDA1-8EDB-4D72-A552-6AA9E54E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651D9-3CB5-47D8-9EB5-3053B8D2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DAF77-78C2-4B92-AD33-13FC44C5A22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86988B-D1EF-4408-B2EF-E79F2C65285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8F868D-7403-4A7A-A71F-F8CEBF2F5F9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CFC29-3E2C-4FEC-ABA5-B664F91A4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08CD7-4F47-4AA3-8954-3FE55008D1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F3FB6-0B89-47CD-8841-7FF2AC247A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9D4A-5677-431F-8E62-4FDEEAEEA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811D58-85AD-42E3-90A1-E9BBE9F1F0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930C1-A839-488C-8D1D-A184BAA717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0AF71-E8B7-401C-8443-8D5B0459D7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70997-17A2-4467-A240-365D9E47C9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7AFAA2-57A5-4962-8A94-394E796DDF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B0A47-14F1-4D47-AEA9-CD79CB0672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5A69-9309-442B-A8CF-78256DD89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DAACE-BB6C-4B37-922D-F49349137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0FE72-1F05-4ECD-B7E0-9BC814ECE18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56B78-EF04-4DF7-917A-8EF313256B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030FD-37DA-48F5-B8B5-42294CDE44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79F6E-6671-4C78-9EF8-986F429BEB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2573-015F-4924-B649-88FCA7F2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07DF4-922A-4670-8ABD-4E00E839C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C3841-9BF7-458F-B2E6-1EEEC80EE4A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5ECE0-2A24-4643-9EBE-F9075E4449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52666-5848-4A52-AD99-0545F6BD3A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E7456-3BD5-4D8F-AEE7-3F4F607EC8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EF91-9B1F-48BA-BCF5-F2F6C774A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A71ED-8DC2-4DEC-B5A2-E3F6BFBAE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E68E4-CE35-4FE2-B2C7-612177FE48D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695F7-E390-42A5-BE11-7AB6CC1BE8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A0E14-B505-4C60-A7F0-AD291E583B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070699-A85A-46BE-8BAA-CDDAB12BD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76293-F468-426A-A482-3B776A578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CF1B5-BE8D-4336-BBD5-CF770D4582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7C9D4-B358-41A0-A939-4B060818E7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F9AAD-C501-4163-A9D3-F5E1D60163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2548B5-CD15-4C4A-B07E-857FC451F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DD24F-FFAC-4A2C-91E3-D1BD170D7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590C-46AE-46EF-BE3F-DE48F7400EC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10/31/2026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F0D97-A111-4FFD-977B-61B99F06D66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86328-749B-430D-889C-70A9E8380E5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1160B4-17DB-4BA2-8051-6C2D6D48AD2C}"/>
              </a:ext>
            </a:extLst>
          </p:cNvPr>
          <p:cNvSpPr>
            <a:spLocks noGrp="1"/>
          </p:cNvSpPr>
          <p:nvPr/>
        </p:nvSpPr>
        <p:spPr>
          <a:xfrm>
            <a:off x="10363200" y="0"/>
            <a:ext cx="1828800" cy="114300"/>
          </a:xfrm>
          <a:prstGeom prst="rect">
            <a:avLst/>
          </a:prstGeom>
          <a:solidFill>
            <a:srgbClr val="234B75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8C5FE1-8274-4D43-AEF5-0D4E27818159}"/>
              </a:ext>
            </a:extLst>
          </p:cNvPr>
          <p:cNvSpPr>
            <a:spLocks noGrp="1"/>
          </p:cNvSpPr>
          <p:nvPr/>
        </p:nvSpPr>
        <p:spPr>
          <a:xfrm>
            <a:off x="10668000" y="228600"/>
            <a:ext cx="1524000" cy="114300"/>
          </a:xfrm>
          <a:prstGeom prst="rect">
            <a:avLst/>
          </a:prstGeom>
          <a:solidFill>
            <a:srgbClr val="347CBF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CC262B-DE62-48DA-AECA-C9F8738F0DF6}"/>
              </a:ext>
            </a:extLst>
          </p:cNvPr>
          <p:cNvSpPr>
            <a:spLocks noGrp="1"/>
          </p:cNvSpPr>
          <p:nvPr/>
        </p:nvSpPr>
        <p:spPr>
          <a:xfrm>
            <a:off x="11239500" y="5562600"/>
            <a:ext cx="952500" cy="1295400"/>
          </a:xfrm>
          <a:prstGeom prst="rect">
            <a:avLst/>
          </a:prstGeom>
          <a:solidFill>
            <a:srgbClr val="234B75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77088-33DA-440C-9310-3ABF0F87D110}"/>
              </a:ext>
            </a:extLst>
          </p:cNvPr>
          <p:cNvSpPr>
            <a:spLocks noGrp="1"/>
          </p:cNvSpPr>
          <p:nvPr/>
        </p:nvSpPr>
        <p:spPr>
          <a:xfrm>
            <a:off x="0" y="6705600"/>
            <a:ext cx="2857500" cy="152400"/>
          </a:xfrm>
          <a:prstGeom prst="rect">
            <a:avLst/>
          </a:prstGeom>
          <a:solidFill>
            <a:srgbClr val="347CBF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7337D-0D6F-4EBB-8C33-D2F000FA8E33}"/>
              </a:ext>
            </a:extLst>
          </p:cNvPr>
          <p:cNvSpPr>
            <a:spLocks noGrp="1"/>
          </p:cNvSpPr>
          <p:nvPr/>
        </p:nvSpPr>
        <p:spPr>
          <a:xfrm>
            <a:off x="777240" y="1005840"/>
            <a:ext cx="7680960" cy="2346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3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8FC4F2"/>
                </a:solidFill>
                <a:latin typeface="Aptos"/>
                <a:ea typeface="Aptos"/>
                <a:cs typeface="Aptos"/>
              </a:rPr>
              <a:t>CLOUD COMPUTING • AWS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DA3AA-E965-49C9-84B9-D3A5B4A024CA}"/>
              </a:ext>
            </a:extLst>
          </p:cNvPr>
          <p:cNvSpPr>
            <a:spLocks noGrp="1"/>
          </p:cNvSpPr>
          <p:nvPr/>
        </p:nvSpPr>
        <p:spPr>
          <a:xfrm>
            <a:off x="777240" y="1691640"/>
            <a:ext cx="7863840" cy="1072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Cross-Account</a:t>
            </a:r>
            <a:br>
              <a:rPr sz="3400" b="1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sz="3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Access Grant Display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175D31-0B07-4717-A283-DBE1D0B7D59A}"/>
              </a:ext>
            </a:extLst>
          </p:cNvPr>
          <p:cNvSpPr>
            <a:spLocks noGrp="1"/>
          </p:cNvSpPr>
          <p:nvPr/>
        </p:nvSpPr>
        <p:spPr>
          <a:xfrm>
            <a:off x="804672" y="3657600"/>
            <a:ext cx="694944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serverless request-monitoring prototype with MQTT, Lambda, S3, and Streamlit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5A8293-C072-441B-9986-016E58AD2EAF}"/>
              </a:ext>
            </a:extLst>
          </p:cNvPr>
          <p:cNvSpPr>
            <a:spLocks noGrp="1"/>
          </p:cNvSpPr>
          <p:nvPr/>
        </p:nvSpPr>
        <p:spPr>
          <a:xfrm>
            <a:off x="804672" y="5074920"/>
            <a:ext cx="6400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AWS Region: us-east-1  |  Dashboard: Python + Streamlit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10BEEA-0CBD-47DE-B4AB-69203A19A99B}"/>
              </a:ext>
            </a:extLst>
          </p:cNvPr>
          <p:cNvSpPr>
            <a:spLocks noGrp="1"/>
          </p:cNvSpPr>
          <p:nvPr/>
        </p:nvSpPr>
        <p:spPr>
          <a:xfrm>
            <a:off x="804672" y="5989320"/>
            <a:ext cx="68580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Project 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5806B3-BE61-4001-A64E-D31A422F5DB4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8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71770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C2350-5C3F-4F7D-8C8A-C471208C633B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4709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A69D5A-87D3-424F-9DA3-974B6804DC43}"/>
              </a:ext>
            </a:extLst>
          </p:cNvPr>
          <p:cNvSpPr>
            <a:spLocks noGrp="1"/>
          </p:cNvSpPr>
          <p:nvPr/>
        </p:nvSpPr>
        <p:spPr>
          <a:xfrm>
            <a:off x="594360" y="859536"/>
            <a:ext cx="1005840" cy="54864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2BC409-C81A-4337-806E-40AA58A2271F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What the prototype does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4E694-0DBB-4197-BD73-4EB153A3E82C}"/>
              </a:ext>
            </a:extLst>
          </p:cNvPr>
          <p:cNvSpPr>
            <a:spLocks noGrp="1"/>
          </p:cNvSpPr>
          <p:nvPr/>
        </p:nvSpPr>
        <p:spPr>
          <a:xfrm>
            <a:off x="1115568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9D092D0-DFB9-487B-ACE8-E53E5B43A7B1}"/>
              </a:ext>
            </a:extLst>
          </p:cNvPr>
          <p:cNvSpPr>
            <a:spLocks noGrp="1"/>
          </p:cNvSpPr>
          <p:nvPr/>
        </p:nvSpPr>
        <p:spPr>
          <a:xfrm>
            <a:off x="731520" y="1645920"/>
            <a:ext cx="3429000" cy="1417320"/>
          </a:xfrm>
          <a:prstGeom prst="roundRect">
            <a:avLst>
              <a:gd name="adj" fmla="val 9409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16B131-23E2-48B6-97FA-8E10A99B161C}"/>
              </a:ext>
            </a:extLst>
          </p:cNvPr>
          <p:cNvSpPr>
            <a:spLocks noGrp="1"/>
          </p:cNvSpPr>
          <p:nvPr/>
        </p:nvSpPr>
        <p:spPr>
          <a:xfrm>
            <a:off x="731520" y="1719072"/>
            <a:ext cx="64008" cy="1271016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29B79-25E9-4055-8E58-C9C5239D9193}"/>
              </a:ext>
            </a:extLst>
          </p:cNvPr>
          <p:cNvSpPr>
            <a:spLocks noGrp="1"/>
          </p:cNvSpPr>
          <p:nvPr/>
        </p:nvSpPr>
        <p:spPr>
          <a:xfrm>
            <a:off x="932688" y="1810512"/>
            <a:ext cx="3063240" cy="2804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01  Receive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3B9C00-BA0F-4D03-9C79-029F49B71173}"/>
              </a:ext>
            </a:extLst>
          </p:cNvPr>
          <p:cNvSpPr>
            <a:spLocks noGrp="1"/>
          </p:cNvSpPr>
          <p:nvPr/>
        </p:nvSpPr>
        <p:spPr>
          <a:xfrm>
            <a:off x="932688" y="2212848"/>
            <a:ext cx="306324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Accept JSON requests through AWS IoT Core MQTT.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D79EC0-77D0-42D2-B5F2-5DD651A5B233}"/>
              </a:ext>
            </a:extLst>
          </p:cNvPr>
          <p:cNvSpPr>
            <a:spLocks noGrp="1"/>
          </p:cNvSpPr>
          <p:nvPr/>
        </p:nvSpPr>
        <p:spPr>
          <a:xfrm>
            <a:off x="4389120" y="1645920"/>
            <a:ext cx="3429000" cy="1417320"/>
          </a:xfrm>
          <a:prstGeom prst="roundRect">
            <a:avLst>
              <a:gd name="adj" fmla="val 9409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C48A2C-B15C-440B-A272-E9249602C27E}"/>
              </a:ext>
            </a:extLst>
          </p:cNvPr>
          <p:cNvSpPr>
            <a:spLocks noGrp="1"/>
          </p:cNvSpPr>
          <p:nvPr/>
        </p:nvSpPr>
        <p:spPr>
          <a:xfrm>
            <a:off x="4389120" y="1719072"/>
            <a:ext cx="64008" cy="1271016"/>
          </a:xfrm>
          <a:prstGeom prst="rect">
            <a:avLst/>
          </a:prstGeom>
          <a:solidFill>
            <a:srgbClr val="23866D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97A153-9F3D-4F4A-B2B9-93002E939F54}"/>
              </a:ext>
            </a:extLst>
          </p:cNvPr>
          <p:cNvSpPr>
            <a:spLocks noGrp="1"/>
          </p:cNvSpPr>
          <p:nvPr/>
        </p:nvSpPr>
        <p:spPr>
          <a:xfrm>
            <a:off x="4590288" y="1810512"/>
            <a:ext cx="3063240" cy="2804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02  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619CE6-5995-4E5C-8615-DF15565DF470}"/>
              </a:ext>
            </a:extLst>
          </p:cNvPr>
          <p:cNvSpPr>
            <a:spLocks noGrp="1"/>
          </p:cNvSpPr>
          <p:nvPr/>
        </p:nvSpPr>
        <p:spPr>
          <a:xfrm>
            <a:off x="4590288" y="2212848"/>
            <a:ext cx="306324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Route requests to AWS Lambda for identity inspection and S3 checks.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5B52043-8737-4935-87F4-34543B7034BA}"/>
              </a:ext>
            </a:extLst>
          </p:cNvPr>
          <p:cNvSpPr>
            <a:spLocks noGrp="1"/>
          </p:cNvSpPr>
          <p:nvPr/>
        </p:nvSpPr>
        <p:spPr>
          <a:xfrm>
            <a:off x="8046720" y="1645920"/>
            <a:ext cx="3429000" cy="1417320"/>
          </a:xfrm>
          <a:prstGeom prst="roundRect">
            <a:avLst>
              <a:gd name="adj" fmla="val 9409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619748-B8F0-4768-AC6C-660E0E407B59}"/>
              </a:ext>
            </a:extLst>
          </p:cNvPr>
          <p:cNvSpPr>
            <a:spLocks noGrp="1"/>
          </p:cNvSpPr>
          <p:nvPr/>
        </p:nvSpPr>
        <p:spPr>
          <a:xfrm>
            <a:off x="8046720" y="1719072"/>
            <a:ext cx="64008" cy="1271016"/>
          </a:xfrm>
          <a:prstGeom prst="rect">
            <a:avLst/>
          </a:prstGeom>
          <a:solidFill>
            <a:srgbClr val="B87412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CAE193-05B3-4530-84D5-618CCF007B5F}"/>
              </a:ext>
            </a:extLst>
          </p:cNvPr>
          <p:cNvSpPr>
            <a:spLocks noGrp="1"/>
          </p:cNvSpPr>
          <p:nvPr/>
        </p:nvSpPr>
        <p:spPr>
          <a:xfrm>
            <a:off x="8247888" y="1810512"/>
            <a:ext cx="3063240" cy="2804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03  Monitor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C5674C-CB44-4B76-A84E-0B9B8AD81D21}"/>
              </a:ext>
            </a:extLst>
          </p:cNvPr>
          <p:cNvSpPr>
            <a:spLocks noGrp="1"/>
          </p:cNvSpPr>
          <p:nvPr/>
        </p:nvSpPr>
        <p:spPr>
          <a:xfrm>
            <a:off x="8247888" y="2212848"/>
            <a:ext cx="306324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Store JSON results in S3 and present them in a Streamlit dashboard.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15A545-F21F-4904-A1EB-2F13D42160BD}"/>
              </a:ext>
            </a:extLst>
          </p:cNvPr>
          <p:cNvSpPr>
            <a:spLocks noGrp="1"/>
          </p:cNvSpPr>
          <p:nvPr/>
        </p:nvSpPr>
        <p:spPr>
          <a:xfrm>
            <a:off x="822960" y="3657600"/>
            <a:ext cx="10424160" cy="3261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9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9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Core idea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1AFC9C-4388-4FA5-89D1-A5B32556B476}"/>
              </a:ext>
            </a:extLst>
          </p:cNvPr>
          <p:cNvSpPr>
            <a:spLocks noGrp="1"/>
          </p:cNvSpPr>
          <p:nvPr/>
        </p:nvSpPr>
        <p:spPr>
          <a:xfrm>
            <a:off x="822960" y="4160520"/>
            <a:ext cx="10241280" cy="7071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Create a visible, auditable request-processing flow so users can review request status and stored results from one interface.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15DC25-DC7D-4CD9-A28E-12C806CA4EA6}"/>
              </a:ext>
            </a:extLst>
          </p:cNvPr>
          <p:cNvSpPr>
            <a:spLocks noGrp="1"/>
          </p:cNvSpPr>
          <p:nvPr/>
        </p:nvSpPr>
        <p:spPr>
          <a:xfrm>
            <a:off x="594360" y="6473952"/>
            <a:ext cx="59436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Cross-Account Access Grant Display</a:t>
            </a:r>
          </a:p>
        </p:txBody>
      </p:sp>
    </p:spTree>
    <p:extLst>
      <p:ext uri="{BB962C8B-B14F-4D97-AF65-F5344CB8AC3E}">
        <p14:creationId xmlns:p14="http://schemas.microsoft.com/office/powerpoint/2010/main" val="180225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5A81A-B381-4261-A442-B0DD1357F621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4709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Problem Statement &amp;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925879-8C70-4261-95B5-5B292067D2F0}"/>
              </a:ext>
            </a:extLst>
          </p:cNvPr>
          <p:cNvSpPr>
            <a:spLocks noGrp="1"/>
          </p:cNvSpPr>
          <p:nvPr/>
        </p:nvSpPr>
        <p:spPr>
          <a:xfrm>
            <a:off x="594360" y="859536"/>
            <a:ext cx="1005840" cy="54864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1B37FB-9EEA-4A3B-BE24-CBBF86AF81C6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Why this project was developed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08768-FDE8-4077-BF05-3B660F2DC1C8}"/>
              </a:ext>
            </a:extLst>
          </p:cNvPr>
          <p:cNvSpPr>
            <a:spLocks noGrp="1"/>
          </p:cNvSpPr>
          <p:nvPr/>
        </p:nvSpPr>
        <p:spPr>
          <a:xfrm>
            <a:off x="1115568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4B6BF-325C-4EDD-9E16-ADD66598294F}"/>
              </a:ext>
            </a:extLst>
          </p:cNvPr>
          <p:cNvSpPr>
            <a:spLocks noGrp="1"/>
          </p:cNvSpPr>
          <p:nvPr/>
        </p:nvSpPr>
        <p:spPr>
          <a:xfrm>
            <a:off x="822960" y="1645920"/>
            <a:ext cx="10424160" cy="2181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>
            <a:defPPr algn="l"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Request processing and results can be spread across multiple cloud services.</a:t>
            </a:r>
          </a:p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A centralized view helps users inspect request IDs, processing status, and stored results.</a:t>
            </a:r>
          </a:p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Use serverless AWS components to connect messaging, processing, and storage.</a:t>
            </a:r>
          </a:p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Provide a dashboard with request history, metrics, details, charts, and CSV export.</a:t>
            </a:r>
          </a:p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Clearly distinguish monitoring results from proof of cross-account authorization.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55F520E-FB67-44D4-B526-264E250FF1DF}"/>
              </a:ext>
            </a:extLst>
          </p:cNvPr>
          <p:cNvSpPr>
            <a:spLocks noGrp="1"/>
          </p:cNvSpPr>
          <p:nvPr/>
        </p:nvSpPr>
        <p:spPr>
          <a:xfrm>
            <a:off x="822960" y="5623560"/>
            <a:ext cx="10515600" cy="502920"/>
          </a:xfrm>
          <a:prstGeom prst="roundRect">
            <a:avLst>
              <a:gd name="adj" fmla="val 26515"/>
            </a:avLst>
          </a:prstGeom>
          <a:solidFill>
            <a:srgbClr val="FFF4DE"/>
          </a:solidFill>
          <a:ln w="9525">
            <a:solidFill>
              <a:srgbClr val="F1D49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1304F-3582-40A9-9667-50EA154DF575}"/>
              </a:ext>
            </a:extLst>
          </p:cNvPr>
          <p:cNvSpPr>
            <a:spLocks noGrp="1"/>
          </p:cNvSpPr>
          <p:nvPr/>
        </p:nvSpPr>
        <p:spPr>
          <a:xfrm>
            <a:off x="1024128" y="5733288"/>
            <a:ext cx="10058400" cy="204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B87412"/>
                </a:solidFill>
                <a:latin typeface="Aptos"/>
                <a:ea typeface="Aptos"/>
                <a:cs typeface="Aptos"/>
              </a:rPr>
              <a:t>Project scope: software-only prototype; no embedded physical systems.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329FD-0681-4859-945D-7A986450BC32}"/>
              </a:ext>
            </a:extLst>
          </p:cNvPr>
          <p:cNvSpPr>
            <a:spLocks noGrp="1"/>
          </p:cNvSpPr>
          <p:nvPr/>
        </p:nvSpPr>
        <p:spPr>
          <a:xfrm>
            <a:off x="594360" y="6473952"/>
            <a:ext cx="59436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Cross-Account Access Grant Display</a:t>
            </a:r>
          </a:p>
        </p:txBody>
      </p:sp>
    </p:spTree>
    <p:extLst>
      <p:ext uri="{BB962C8B-B14F-4D97-AF65-F5344CB8AC3E}">
        <p14:creationId xmlns:p14="http://schemas.microsoft.com/office/powerpoint/2010/main" val="1762681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D2A749-B3EC-4FB2-8D61-2416D92DC648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4709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79CB46-4C27-475E-BB1F-7537C0613920}"/>
              </a:ext>
            </a:extLst>
          </p:cNvPr>
          <p:cNvSpPr>
            <a:spLocks noGrp="1"/>
          </p:cNvSpPr>
          <p:nvPr/>
        </p:nvSpPr>
        <p:spPr>
          <a:xfrm>
            <a:off x="594360" y="859536"/>
            <a:ext cx="1005840" cy="54864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ED8A0F-D529-4FEB-93B9-1C83BA4C8FB3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Request validation, identity checks, storage, and monitoring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B7B1A-7F51-4AF2-ADF0-A20884E50DF0}"/>
              </a:ext>
            </a:extLst>
          </p:cNvPr>
          <p:cNvSpPr>
            <a:spLocks noGrp="1"/>
          </p:cNvSpPr>
          <p:nvPr/>
        </p:nvSpPr>
        <p:spPr>
          <a:xfrm>
            <a:off x="1115568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5B4105A-EA53-4207-AE15-A8221CF04DE4}"/>
              </a:ext>
            </a:extLst>
          </p:cNvPr>
          <p:cNvSpPr>
            <a:spLocks noGrp="1"/>
          </p:cNvSpPr>
          <p:nvPr/>
        </p:nvSpPr>
        <p:spPr>
          <a:xfrm>
            <a:off x="502920" y="1874519"/>
            <a:ext cx="1920240" cy="749808"/>
          </a:xfrm>
          <a:prstGeom prst="roundRect">
            <a:avLst>
              <a:gd name="adj" fmla="val 17785"/>
            </a:avLst>
          </a:prstGeom>
          <a:solidFill>
            <a:srgbClr val="FFFFFF"/>
          </a:solidFill>
          <a:ln w="11906">
            <a:solidFill>
              <a:srgbClr val="C9D8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447CD-3263-4ECF-ACAA-5998C466A2A7}"/>
              </a:ext>
            </a:extLst>
          </p:cNvPr>
          <p:cNvSpPr>
            <a:spLocks noGrp="1"/>
          </p:cNvSpPr>
          <p:nvPr/>
        </p:nvSpPr>
        <p:spPr>
          <a:xfrm>
            <a:off x="576072" y="1984248"/>
            <a:ext cx="1773936" cy="2346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MQTT Client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BCF4A-AD94-4459-BA4C-20978A495A21}"/>
              </a:ext>
            </a:extLst>
          </p:cNvPr>
          <p:cNvSpPr>
            <a:spLocks noGrp="1"/>
          </p:cNvSpPr>
          <p:nvPr/>
        </p:nvSpPr>
        <p:spPr>
          <a:xfrm>
            <a:off x="576072" y="2286000"/>
            <a:ext cx="1773936" cy="1889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Publish request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3A62F-F777-4C86-BE2F-B474EFC65224}"/>
              </a:ext>
            </a:extLst>
          </p:cNvPr>
          <p:cNvSpPr>
            <a:spLocks noGrp="1"/>
          </p:cNvSpPr>
          <p:nvPr/>
        </p:nvSpPr>
        <p:spPr>
          <a:xfrm>
            <a:off x="2788920" y="1874519"/>
            <a:ext cx="1920240" cy="749808"/>
          </a:xfrm>
          <a:prstGeom prst="roundRect">
            <a:avLst>
              <a:gd name="adj" fmla="val 17785"/>
            </a:avLst>
          </a:prstGeom>
          <a:solidFill>
            <a:srgbClr val="FFFFFF"/>
          </a:solidFill>
          <a:ln w="11906">
            <a:solidFill>
              <a:srgbClr val="C9D8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71B7BB-71EF-49CA-9538-AEB38FB37F09}"/>
              </a:ext>
            </a:extLst>
          </p:cNvPr>
          <p:cNvSpPr>
            <a:spLocks noGrp="1"/>
          </p:cNvSpPr>
          <p:nvPr/>
        </p:nvSpPr>
        <p:spPr>
          <a:xfrm>
            <a:off x="2862072" y="1984248"/>
            <a:ext cx="1773936" cy="2346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AWS IoT Core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68162B-659A-44A5-A0EA-8834A959B10B}"/>
              </a:ext>
            </a:extLst>
          </p:cNvPr>
          <p:cNvSpPr>
            <a:spLocks noGrp="1"/>
          </p:cNvSpPr>
          <p:nvPr/>
        </p:nvSpPr>
        <p:spPr>
          <a:xfrm>
            <a:off x="2862072" y="2286000"/>
            <a:ext cx="1773936" cy="1889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Request topic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6AF2103-C6D1-4E80-BDC4-DE795D1A53BC}"/>
              </a:ext>
            </a:extLst>
          </p:cNvPr>
          <p:cNvSpPr>
            <a:spLocks noGrp="1"/>
          </p:cNvSpPr>
          <p:nvPr/>
        </p:nvSpPr>
        <p:spPr>
          <a:xfrm>
            <a:off x="5074920" y="1874519"/>
            <a:ext cx="1920240" cy="749808"/>
          </a:xfrm>
          <a:prstGeom prst="roundRect">
            <a:avLst>
              <a:gd name="adj" fmla="val 17785"/>
            </a:avLst>
          </a:prstGeom>
          <a:solidFill>
            <a:srgbClr val="FFFFFF"/>
          </a:solidFill>
          <a:ln w="11906">
            <a:solidFill>
              <a:srgbClr val="C9D8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4327CA-AE1A-476A-8D25-46F6CAEB3D66}"/>
              </a:ext>
            </a:extLst>
          </p:cNvPr>
          <p:cNvSpPr>
            <a:spLocks noGrp="1"/>
          </p:cNvSpPr>
          <p:nvPr/>
        </p:nvSpPr>
        <p:spPr>
          <a:xfrm>
            <a:off x="5148072" y="1984248"/>
            <a:ext cx="1773936" cy="2346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IoT Rule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4CED59-9DD8-4FEB-9094-133275A6690F}"/>
              </a:ext>
            </a:extLst>
          </p:cNvPr>
          <p:cNvSpPr>
            <a:spLocks noGrp="1"/>
          </p:cNvSpPr>
          <p:nvPr/>
        </p:nvSpPr>
        <p:spPr>
          <a:xfrm>
            <a:off x="5148072" y="2286000"/>
            <a:ext cx="1773936" cy="1889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Route message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92FDD06-2DC4-4F0A-A040-89BD634D3019}"/>
              </a:ext>
            </a:extLst>
          </p:cNvPr>
          <p:cNvSpPr>
            <a:spLocks noGrp="1"/>
          </p:cNvSpPr>
          <p:nvPr/>
        </p:nvSpPr>
        <p:spPr>
          <a:xfrm>
            <a:off x="7360920" y="1874519"/>
            <a:ext cx="1920240" cy="749808"/>
          </a:xfrm>
          <a:prstGeom prst="roundRect">
            <a:avLst>
              <a:gd name="adj" fmla="val 17785"/>
            </a:avLst>
          </a:prstGeom>
          <a:solidFill>
            <a:srgbClr val="FFFFFF"/>
          </a:solidFill>
          <a:ln w="11906">
            <a:solidFill>
              <a:srgbClr val="C9D8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5C1E99-AD55-4F7A-9483-96AB73C3C544}"/>
              </a:ext>
            </a:extLst>
          </p:cNvPr>
          <p:cNvSpPr>
            <a:spLocks noGrp="1"/>
          </p:cNvSpPr>
          <p:nvPr/>
        </p:nvSpPr>
        <p:spPr>
          <a:xfrm>
            <a:off x="7434072" y="1984248"/>
            <a:ext cx="1773936" cy="2346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AWS Lambda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B9D977-1720-4729-A408-8C0C4A132B72}"/>
              </a:ext>
            </a:extLst>
          </p:cNvPr>
          <p:cNvSpPr>
            <a:spLocks noGrp="1"/>
          </p:cNvSpPr>
          <p:nvPr/>
        </p:nvSpPr>
        <p:spPr>
          <a:xfrm>
            <a:off x="7434072" y="2286000"/>
            <a:ext cx="1773936" cy="1889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Validate + process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B85C52D-7B4E-4B81-9042-DC21DC7DB25B}"/>
              </a:ext>
            </a:extLst>
          </p:cNvPr>
          <p:cNvSpPr>
            <a:spLocks noGrp="1"/>
          </p:cNvSpPr>
          <p:nvPr/>
        </p:nvSpPr>
        <p:spPr>
          <a:xfrm>
            <a:off x="9646920" y="1874519"/>
            <a:ext cx="2011680" cy="749808"/>
          </a:xfrm>
          <a:prstGeom prst="roundRect">
            <a:avLst>
              <a:gd name="adj" fmla="val 17785"/>
            </a:avLst>
          </a:prstGeom>
          <a:solidFill>
            <a:srgbClr val="FFFFFF"/>
          </a:solidFill>
          <a:ln w="11906">
            <a:solidFill>
              <a:srgbClr val="C9D8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F4AA5B-79DC-4A47-AF26-1BDBB211CF6D}"/>
              </a:ext>
            </a:extLst>
          </p:cNvPr>
          <p:cNvSpPr>
            <a:spLocks noGrp="1"/>
          </p:cNvSpPr>
          <p:nvPr/>
        </p:nvSpPr>
        <p:spPr>
          <a:xfrm>
            <a:off x="9720072" y="1984248"/>
            <a:ext cx="1865376" cy="2346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Amazon S3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27C37D-213D-48DC-B815-2192C93B2703}"/>
              </a:ext>
            </a:extLst>
          </p:cNvPr>
          <p:cNvSpPr>
            <a:spLocks noGrp="1"/>
          </p:cNvSpPr>
          <p:nvPr/>
        </p:nvSpPr>
        <p:spPr>
          <a:xfrm>
            <a:off x="9720072" y="2286000"/>
            <a:ext cx="1865376" cy="1889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0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Store JSON</a:t>
            </a:r>
          </a:p>
        </p:txBody>
      </p:sp>
      <p:sp>
        <p:nvSpPr>
          <p:cNvPr id="21" name="Connector 20">
            <a:extLst>
              <a:ext uri="{FF2B5EF4-FFF2-40B4-BE49-F238E27FC236}">
                <a16:creationId xmlns:a16="http://schemas.microsoft.com/office/drawing/2014/main" id="{FB74F61B-B14B-41E4-AFB3-FFE720441698}"/>
              </a:ext>
            </a:extLst>
          </p:cNvPr>
          <p:cNvSpPr>
            <a:spLocks noGrp="1"/>
          </p:cNvSpPr>
          <p:nvPr/>
        </p:nvSpPr>
        <p:spPr>
          <a:xfrm>
            <a:off x="2423160" y="2249424"/>
            <a:ext cx="365760" cy="0"/>
          </a:xfrm>
          <a:prstGeom prst="line">
            <a:avLst/>
          </a:prstGeom>
          <a:ln w="19050">
            <a:solidFill>
              <a:srgbClr val="8291A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0CF35B5D-2398-47DB-A5F7-F51CB024CE3E}"/>
              </a:ext>
            </a:extLst>
          </p:cNvPr>
          <p:cNvSpPr>
            <a:spLocks noGrp="1"/>
          </p:cNvSpPr>
          <p:nvPr/>
        </p:nvSpPr>
        <p:spPr>
          <a:xfrm>
            <a:off x="4709160" y="2249424"/>
            <a:ext cx="365760" cy="0"/>
          </a:xfrm>
          <a:prstGeom prst="line">
            <a:avLst/>
          </a:prstGeom>
          <a:ln w="19050">
            <a:solidFill>
              <a:srgbClr val="8291A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F691DCAB-3D5D-4F59-AC67-6D5CA842B507}"/>
              </a:ext>
            </a:extLst>
          </p:cNvPr>
          <p:cNvSpPr>
            <a:spLocks noGrp="1"/>
          </p:cNvSpPr>
          <p:nvPr/>
        </p:nvSpPr>
        <p:spPr>
          <a:xfrm>
            <a:off x="6995160" y="2249424"/>
            <a:ext cx="365760" cy="0"/>
          </a:xfrm>
          <a:prstGeom prst="line">
            <a:avLst/>
          </a:prstGeom>
          <a:ln w="19050">
            <a:solidFill>
              <a:srgbClr val="8291A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4" name="Connector 23">
            <a:extLst>
              <a:ext uri="{FF2B5EF4-FFF2-40B4-BE49-F238E27FC236}">
                <a16:creationId xmlns:a16="http://schemas.microsoft.com/office/drawing/2014/main" id="{1B46E7C1-5E94-4DFB-8792-24B34641FB56}"/>
              </a:ext>
            </a:extLst>
          </p:cNvPr>
          <p:cNvSpPr>
            <a:spLocks noGrp="1"/>
          </p:cNvSpPr>
          <p:nvPr/>
        </p:nvSpPr>
        <p:spPr>
          <a:xfrm>
            <a:off x="9281160" y="2249424"/>
            <a:ext cx="365760" cy="0"/>
          </a:xfrm>
          <a:prstGeom prst="line">
            <a:avLst/>
          </a:prstGeom>
          <a:ln w="19050">
            <a:solidFill>
              <a:srgbClr val="8291A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4F10C87-004B-40FF-909D-069E0E90F664}"/>
              </a:ext>
            </a:extLst>
          </p:cNvPr>
          <p:cNvSpPr>
            <a:spLocks noGrp="1"/>
          </p:cNvSpPr>
          <p:nvPr/>
        </p:nvSpPr>
        <p:spPr>
          <a:xfrm>
            <a:off x="3657600" y="3657600"/>
            <a:ext cx="2468880" cy="1051560"/>
          </a:xfrm>
          <a:prstGeom prst="roundRect">
            <a:avLst>
              <a:gd name="adj" fmla="val 12681"/>
            </a:avLst>
          </a:prstGeom>
          <a:solidFill>
            <a:srgbClr val="FFFFFF"/>
          </a:solidFill>
          <a:ln w="11906">
            <a:solidFill>
              <a:srgbClr val="C9D8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B553E5-8319-46BC-80F0-1AA60A9A17A8}"/>
              </a:ext>
            </a:extLst>
          </p:cNvPr>
          <p:cNvSpPr>
            <a:spLocks noGrp="1"/>
          </p:cNvSpPr>
          <p:nvPr/>
        </p:nvSpPr>
        <p:spPr>
          <a:xfrm>
            <a:off x="3657600" y="3730752"/>
            <a:ext cx="64008" cy="905255"/>
          </a:xfrm>
          <a:prstGeom prst="rect">
            <a:avLst/>
          </a:prstGeom>
          <a:solidFill>
            <a:srgbClr val="23866D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21AE5E-DC4D-4795-A7DF-175B70652E8D}"/>
              </a:ext>
            </a:extLst>
          </p:cNvPr>
          <p:cNvSpPr>
            <a:spLocks noGrp="1"/>
          </p:cNvSpPr>
          <p:nvPr/>
        </p:nvSpPr>
        <p:spPr>
          <a:xfrm>
            <a:off x="3858768" y="3822191"/>
            <a:ext cx="2103120" cy="2499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AWS STS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D902B9-75B9-4381-8FC1-702D8FC3E153}"/>
              </a:ext>
            </a:extLst>
          </p:cNvPr>
          <p:cNvSpPr>
            <a:spLocks noGrp="1"/>
          </p:cNvSpPr>
          <p:nvPr/>
        </p:nvSpPr>
        <p:spPr>
          <a:xfrm>
            <a:off x="3858768" y="4224528"/>
            <a:ext cx="2103120" cy="204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Get current caller identity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D504089-7491-4A26-BE4D-CB68B89325A0}"/>
              </a:ext>
            </a:extLst>
          </p:cNvPr>
          <p:cNvSpPr>
            <a:spLocks noGrp="1"/>
          </p:cNvSpPr>
          <p:nvPr/>
        </p:nvSpPr>
        <p:spPr>
          <a:xfrm>
            <a:off x="6492240" y="3657600"/>
            <a:ext cx="2468880" cy="1051560"/>
          </a:xfrm>
          <a:prstGeom prst="roundRect">
            <a:avLst>
              <a:gd name="adj" fmla="val 12681"/>
            </a:avLst>
          </a:prstGeom>
          <a:solidFill>
            <a:srgbClr val="FFFFFF"/>
          </a:solidFill>
          <a:ln w="11906">
            <a:solidFill>
              <a:srgbClr val="C9D8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092BF2-83CE-4F52-A159-533426EBE9B6}"/>
              </a:ext>
            </a:extLst>
          </p:cNvPr>
          <p:cNvSpPr>
            <a:spLocks noGrp="1"/>
          </p:cNvSpPr>
          <p:nvPr/>
        </p:nvSpPr>
        <p:spPr>
          <a:xfrm>
            <a:off x="6492240" y="3730752"/>
            <a:ext cx="64008" cy="905255"/>
          </a:xfrm>
          <a:prstGeom prst="rect">
            <a:avLst/>
          </a:prstGeom>
          <a:solidFill>
            <a:srgbClr val="23866D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9FC937-B427-44A9-8284-2F360150328C}"/>
              </a:ext>
            </a:extLst>
          </p:cNvPr>
          <p:cNvSpPr>
            <a:spLocks noGrp="1"/>
          </p:cNvSpPr>
          <p:nvPr/>
        </p:nvSpPr>
        <p:spPr>
          <a:xfrm>
            <a:off x="6693407" y="3822191"/>
            <a:ext cx="2103120" cy="2499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MQTT Response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CD8904-6731-410C-B71F-C53C1FE96AE2}"/>
              </a:ext>
            </a:extLst>
          </p:cNvPr>
          <p:cNvSpPr>
            <a:spLocks noGrp="1"/>
          </p:cNvSpPr>
          <p:nvPr/>
        </p:nvSpPr>
        <p:spPr>
          <a:xfrm>
            <a:off x="6693407" y="4224528"/>
            <a:ext cx="2103120" cy="204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Publish processing result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12490FD-B4DE-4962-A759-99AD5E0DC75B}"/>
              </a:ext>
            </a:extLst>
          </p:cNvPr>
          <p:cNvSpPr>
            <a:spLocks noGrp="1"/>
          </p:cNvSpPr>
          <p:nvPr/>
        </p:nvSpPr>
        <p:spPr>
          <a:xfrm>
            <a:off x="9326880" y="3657600"/>
            <a:ext cx="2331720" cy="1051560"/>
          </a:xfrm>
          <a:prstGeom prst="roundRect">
            <a:avLst>
              <a:gd name="adj" fmla="val 12681"/>
            </a:avLst>
          </a:prstGeom>
          <a:solidFill>
            <a:srgbClr val="FFFFFF"/>
          </a:solidFill>
          <a:ln w="11906">
            <a:solidFill>
              <a:srgbClr val="C9D8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CF1A16-AB1C-49A6-AB88-BA5B53329C3E}"/>
              </a:ext>
            </a:extLst>
          </p:cNvPr>
          <p:cNvSpPr>
            <a:spLocks noGrp="1"/>
          </p:cNvSpPr>
          <p:nvPr/>
        </p:nvSpPr>
        <p:spPr>
          <a:xfrm>
            <a:off x="9326880" y="3730752"/>
            <a:ext cx="64008" cy="905255"/>
          </a:xfrm>
          <a:prstGeom prst="rect">
            <a:avLst/>
          </a:prstGeom>
          <a:solidFill>
            <a:srgbClr val="B87412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D97A13-C55E-4EA8-91BC-3AB724CE38A3}"/>
              </a:ext>
            </a:extLst>
          </p:cNvPr>
          <p:cNvSpPr>
            <a:spLocks noGrp="1"/>
          </p:cNvSpPr>
          <p:nvPr/>
        </p:nvSpPr>
        <p:spPr>
          <a:xfrm>
            <a:off x="9528048" y="3822191"/>
            <a:ext cx="1965960" cy="2499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Streamlit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1DF854-AE26-4704-9DB1-2B102915A693}"/>
              </a:ext>
            </a:extLst>
          </p:cNvPr>
          <p:cNvSpPr>
            <a:spLocks noGrp="1"/>
          </p:cNvSpPr>
          <p:nvPr/>
        </p:nvSpPr>
        <p:spPr>
          <a:xfrm>
            <a:off x="9528048" y="4224528"/>
            <a:ext cx="1965960" cy="204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Read S3 JSON; show metrics</a:t>
            </a:r>
          </a:p>
        </p:txBody>
      </p:sp>
      <p:sp>
        <p:nvSpPr>
          <p:cNvPr id="37" name="Connector 36">
            <a:extLst>
              <a:ext uri="{FF2B5EF4-FFF2-40B4-BE49-F238E27FC236}">
                <a16:creationId xmlns:a16="http://schemas.microsoft.com/office/drawing/2014/main" id="{CBF5E709-AE99-40B9-A7E2-BD031D5F69E3}"/>
              </a:ext>
            </a:extLst>
          </p:cNvPr>
          <p:cNvSpPr>
            <a:spLocks noGrp="1"/>
          </p:cNvSpPr>
          <p:nvPr/>
        </p:nvSpPr>
        <p:spPr>
          <a:xfrm flipH="1">
            <a:off x="4892040" y="2624328"/>
            <a:ext cx="3429000" cy="1033272"/>
          </a:xfrm>
          <a:prstGeom prst="line">
            <a:avLst/>
          </a:prstGeom>
          <a:ln w="19050">
            <a:solidFill>
              <a:srgbClr val="8291A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Connector 37">
            <a:extLst>
              <a:ext uri="{FF2B5EF4-FFF2-40B4-BE49-F238E27FC236}">
                <a16:creationId xmlns:a16="http://schemas.microsoft.com/office/drawing/2014/main" id="{B68682D6-9A51-470D-828E-5C26F963A472}"/>
              </a:ext>
            </a:extLst>
          </p:cNvPr>
          <p:cNvSpPr>
            <a:spLocks noGrp="1"/>
          </p:cNvSpPr>
          <p:nvPr/>
        </p:nvSpPr>
        <p:spPr>
          <a:xfrm flipH="1">
            <a:off x="7726679" y="2624328"/>
            <a:ext cx="594361" cy="1033272"/>
          </a:xfrm>
          <a:prstGeom prst="line">
            <a:avLst/>
          </a:prstGeom>
          <a:ln w="19050">
            <a:solidFill>
              <a:srgbClr val="8291A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9" name="Connector 38">
            <a:extLst>
              <a:ext uri="{FF2B5EF4-FFF2-40B4-BE49-F238E27FC236}">
                <a16:creationId xmlns:a16="http://schemas.microsoft.com/office/drawing/2014/main" id="{D6AE68CF-B4E2-474F-A51D-D938AAC70907}"/>
              </a:ext>
            </a:extLst>
          </p:cNvPr>
          <p:cNvSpPr>
            <a:spLocks noGrp="1"/>
          </p:cNvSpPr>
          <p:nvPr/>
        </p:nvSpPr>
        <p:spPr>
          <a:xfrm flipH="1">
            <a:off x="10469880" y="2624328"/>
            <a:ext cx="182880" cy="1033272"/>
          </a:xfrm>
          <a:prstGeom prst="line">
            <a:avLst/>
          </a:prstGeom>
          <a:ln w="19050">
            <a:solidFill>
              <a:srgbClr val="8291A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1944DD-B185-4055-9114-AF95D51F68C3}"/>
              </a:ext>
            </a:extLst>
          </p:cNvPr>
          <p:cNvSpPr>
            <a:spLocks noGrp="1"/>
          </p:cNvSpPr>
          <p:nvPr/>
        </p:nvSpPr>
        <p:spPr>
          <a:xfrm>
            <a:off x="731520" y="5257800"/>
            <a:ext cx="10698480" cy="2346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3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Topics: crossaccount/request  •  crossaccount/response     |     S3 prefix: access-results/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D2AFC3-55C6-4332-86AC-EBDA1ABEFADD}"/>
              </a:ext>
            </a:extLst>
          </p:cNvPr>
          <p:cNvSpPr>
            <a:spLocks noGrp="1"/>
          </p:cNvSpPr>
          <p:nvPr/>
        </p:nvSpPr>
        <p:spPr>
          <a:xfrm>
            <a:off x="731520" y="5806440"/>
            <a:ext cx="10698480" cy="204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ctr"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B87412"/>
                </a:solidFill>
                <a:latin typeface="Aptos"/>
                <a:ea typeface="Aptos"/>
                <a:cs typeface="Aptos"/>
              </a:rPr>
              <a:t>Invalid request IDs are rejected; target-account role assumption remains unverified.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9243B6-2D48-48A6-9921-4188AFABD7B2}"/>
              </a:ext>
            </a:extLst>
          </p:cNvPr>
          <p:cNvSpPr>
            <a:spLocks noGrp="1"/>
          </p:cNvSpPr>
          <p:nvPr/>
        </p:nvSpPr>
        <p:spPr>
          <a:xfrm>
            <a:off x="594360" y="6473952"/>
            <a:ext cx="59436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Cross-Account Access Grant Display</a:t>
            </a:r>
          </a:p>
        </p:txBody>
      </p:sp>
    </p:spTree>
    <p:extLst>
      <p:ext uri="{BB962C8B-B14F-4D97-AF65-F5344CB8AC3E}">
        <p14:creationId xmlns:p14="http://schemas.microsoft.com/office/powerpoint/2010/main" val="2054682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324F89-1949-4B0C-818D-914B880FB4F9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4709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AWS Components &amp; Configuration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08D25C-6D5D-4F9D-A221-719EA893E330}"/>
              </a:ext>
            </a:extLst>
          </p:cNvPr>
          <p:cNvSpPr>
            <a:spLocks noGrp="1"/>
          </p:cNvSpPr>
          <p:nvPr/>
        </p:nvSpPr>
        <p:spPr>
          <a:xfrm>
            <a:off x="594360" y="859536"/>
            <a:ext cx="1005840" cy="54864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4C438-7357-4452-8F30-1949A0716F83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Resources used in the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BFC91-F4C5-4959-BE5D-C90B6B9A5E14}"/>
              </a:ext>
            </a:extLst>
          </p:cNvPr>
          <p:cNvSpPr>
            <a:spLocks noGrp="1"/>
          </p:cNvSpPr>
          <p:nvPr/>
        </p:nvSpPr>
        <p:spPr>
          <a:xfrm>
            <a:off x="1115568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E6F0B2F-76D5-46A0-B5E6-E786B72ECC18}"/>
              </a:ext>
            </a:extLst>
          </p:cNvPr>
          <p:cNvSpPr>
            <a:spLocks noGrp="1"/>
          </p:cNvSpPr>
          <p:nvPr/>
        </p:nvSpPr>
        <p:spPr>
          <a:xfrm>
            <a:off x="731520" y="1600200"/>
            <a:ext cx="5257800" cy="1234440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4603D-F013-4E9B-9017-772C64540AEA}"/>
              </a:ext>
            </a:extLst>
          </p:cNvPr>
          <p:cNvSpPr>
            <a:spLocks noGrp="1"/>
          </p:cNvSpPr>
          <p:nvPr/>
        </p:nvSpPr>
        <p:spPr>
          <a:xfrm>
            <a:off x="731520" y="1673352"/>
            <a:ext cx="64008" cy="1088136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B3235-B119-4CDC-AEF1-CA345087DEE2}"/>
              </a:ext>
            </a:extLst>
          </p:cNvPr>
          <p:cNvSpPr>
            <a:spLocks noGrp="1"/>
          </p:cNvSpPr>
          <p:nvPr/>
        </p:nvSpPr>
        <p:spPr>
          <a:xfrm>
            <a:off x="932688" y="1764792"/>
            <a:ext cx="4892040" cy="2804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AWS IoT 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13D3F5-98ED-4036-BBC7-B11825840C02}"/>
              </a:ext>
            </a:extLst>
          </p:cNvPr>
          <p:cNvSpPr>
            <a:spLocks noGrp="1"/>
          </p:cNvSpPr>
          <p:nvPr/>
        </p:nvSpPr>
        <p:spPr>
          <a:xfrm>
            <a:off x="932688" y="2167128"/>
            <a:ext cx="489204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Rule: CrossAccountTriggerRule</a:t>
            </a:r>
            <a:b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Request: crossaccount/request</a:t>
            </a:r>
            <a:b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Response: crossaccount/response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4FC1D8C-24F1-46E2-B5F6-B55685DEBB9D}"/>
              </a:ext>
            </a:extLst>
          </p:cNvPr>
          <p:cNvSpPr>
            <a:spLocks noGrp="1"/>
          </p:cNvSpPr>
          <p:nvPr/>
        </p:nvSpPr>
        <p:spPr>
          <a:xfrm>
            <a:off x="6217920" y="1600200"/>
            <a:ext cx="5257800" cy="1234440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572FA1-F816-47A2-ABAC-E0BC421FEBF7}"/>
              </a:ext>
            </a:extLst>
          </p:cNvPr>
          <p:cNvSpPr>
            <a:spLocks noGrp="1"/>
          </p:cNvSpPr>
          <p:nvPr/>
        </p:nvSpPr>
        <p:spPr>
          <a:xfrm>
            <a:off x="6217920" y="1673352"/>
            <a:ext cx="64008" cy="1088136"/>
          </a:xfrm>
          <a:prstGeom prst="rect">
            <a:avLst/>
          </a:prstGeom>
          <a:solidFill>
            <a:srgbClr val="23866D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106E5-2E73-494C-A3C1-1FACB5BBCB58}"/>
              </a:ext>
            </a:extLst>
          </p:cNvPr>
          <p:cNvSpPr>
            <a:spLocks noGrp="1"/>
          </p:cNvSpPr>
          <p:nvPr/>
        </p:nvSpPr>
        <p:spPr>
          <a:xfrm>
            <a:off x="6419088" y="1764792"/>
            <a:ext cx="4892040" cy="2804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AWS Lambda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47DBB0-B3A0-4133-B149-8C973E7DCBC0}"/>
              </a:ext>
            </a:extLst>
          </p:cNvPr>
          <p:cNvSpPr>
            <a:spLocks noGrp="1"/>
          </p:cNvSpPr>
          <p:nvPr/>
        </p:nvSpPr>
        <p:spPr>
          <a:xfrm>
            <a:off x="6419088" y="2167128"/>
            <a:ext cx="489204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Function: CrossAccountAccessLambda</a:t>
            </a:r>
            <a:b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Execution role: LabRole</a:t>
            </a:r>
            <a:b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Uses STS identity lookup and S3 operations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5261B85-B94B-48A4-9997-9608B78FD277}"/>
              </a:ext>
            </a:extLst>
          </p:cNvPr>
          <p:cNvSpPr>
            <a:spLocks noGrp="1"/>
          </p:cNvSpPr>
          <p:nvPr/>
        </p:nvSpPr>
        <p:spPr>
          <a:xfrm>
            <a:off x="731520" y="3154680"/>
            <a:ext cx="5257800" cy="1234440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E1A4D1-6389-46E3-8190-9DED5DB176A1}"/>
              </a:ext>
            </a:extLst>
          </p:cNvPr>
          <p:cNvSpPr>
            <a:spLocks noGrp="1"/>
          </p:cNvSpPr>
          <p:nvPr/>
        </p:nvSpPr>
        <p:spPr>
          <a:xfrm>
            <a:off x="731520" y="3227832"/>
            <a:ext cx="64008" cy="1088136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0776D1-E811-4086-A216-36F6D04C44C9}"/>
              </a:ext>
            </a:extLst>
          </p:cNvPr>
          <p:cNvSpPr>
            <a:spLocks noGrp="1"/>
          </p:cNvSpPr>
          <p:nvPr/>
        </p:nvSpPr>
        <p:spPr>
          <a:xfrm>
            <a:off x="932688" y="3319272"/>
            <a:ext cx="4892040" cy="2804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Amazon S3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DAEB6F-B0F8-421D-9235-FF4A3FFD1BA5}"/>
              </a:ext>
            </a:extLst>
          </p:cNvPr>
          <p:cNvSpPr>
            <a:spLocks noGrp="1"/>
          </p:cNvSpPr>
          <p:nvPr/>
        </p:nvSpPr>
        <p:spPr>
          <a:xfrm>
            <a:off x="932688" y="3721608"/>
            <a:ext cx="489204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Bucket: access-grant-demo-150202114394-2026</a:t>
            </a:r>
            <a:b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Prefix: access-results/</a:t>
            </a:r>
            <a:b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Stores request-result JSON files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0A1B6EE-D56E-46D6-9CDE-2FDEDAC4F6DC}"/>
              </a:ext>
            </a:extLst>
          </p:cNvPr>
          <p:cNvSpPr>
            <a:spLocks noGrp="1"/>
          </p:cNvSpPr>
          <p:nvPr/>
        </p:nvSpPr>
        <p:spPr>
          <a:xfrm>
            <a:off x="6217920" y="3154680"/>
            <a:ext cx="5257800" cy="1234440"/>
          </a:xfrm>
          <a:prstGeom prst="roundRect">
            <a:avLst>
              <a:gd name="adj" fmla="val 10802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F6A3C0-EE97-4C70-AAF4-5D6E920CF988}"/>
              </a:ext>
            </a:extLst>
          </p:cNvPr>
          <p:cNvSpPr>
            <a:spLocks noGrp="1"/>
          </p:cNvSpPr>
          <p:nvPr/>
        </p:nvSpPr>
        <p:spPr>
          <a:xfrm>
            <a:off x="6217920" y="3227832"/>
            <a:ext cx="64008" cy="1088136"/>
          </a:xfrm>
          <a:prstGeom prst="rect">
            <a:avLst/>
          </a:prstGeom>
          <a:solidFill>
            <a:srgbClr val="23866D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2E913C-2E81-460E-8387-C95BE18B8926}"/>
              </a:ext>
            </a:extLst>
          </p:cNvPr>
          <p:cNvSpPr>
            <a:spLocks noGrp="1"/>
          </p:cNvSpPr>
          <p:nvPr/>
        </p:nvSpPr>
        <p:spPr>
          <a:xfrm>
            <a:off x="6419088" y="3319272"/>
            <a:ext cx="4892040" cy="2804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Streamlit Dashboard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C51898-50AE-4652-B195-9E680D53D588}"/>
              </a:ext>
            </a:extLst>
          </p:cNvPr>
          <p:cNvSpPr>
            <a:spLocks noGrp="1"/>
          </p:cNvSpPr>
          <p:nvPr/>
        </p:nvSpPr>
        <p:spPr>
          <a:xfrm>
            <a:off x="6419088" y="3721608"/>
            <a:ext cx="489204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Python, Boto3, Pandas, Plotly</a:t>
            </a:r>
            <a:b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Automatic rerun interval: 30 seconds</a:t>
            </a:r>
            <a:b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CSV request-history export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99DB80-1171-4CCE-895C-6DFD97A03474}"/>
              </a:ext>
            </a:extLst>
          </p:cNvPr>
          <p:cNvSpPr>
            <a:spLocks noGrp="1"/>
          </p:cNvSpPr>
          <p:nvPr/>
        </p:nvSpPr>
        <p:spPr>
          <a:xfrm>
            <a:off x="822960" y="4983480"/>
            <a:ext cx="10424160" cy="2804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6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AWS Region: us-east-1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662D31-CFD2-458F-BD3D-BCCDD8F3FDFE}"/>
              </a:ext>
            </a:extLst>
          </p:cNvPr>
          <p:cNvSpPr>
            <a:spLocks noGrp="1"/>
          </p:cNvSpPr>
          <p:nvPr/>
        </p:nvSpPr>
        <p:spPr>
          <a:xfrm>
            <a:off x="822960" y="5440680"/>
            <a:ext cx="105156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Temporary AWS Academy credentials must remain private and may need refreshing when they expire.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6B496F-3D4A-4A6C-B797-09A5D0EF360E}"/>
              </a:ext>
            </a:extLst>
          </p:cNvPr>
          <p:cNvSpPr>
            <a:spLocks noGrp="1"/>
          </p:cNvSpPr>
          <p:nvPr/>
        </p:nvSpPr>
        <p:spPr>
          <a:xfrm>
            <a:off x="594360" y="6473952"/>
            <a:ext cx="59436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Cross-Account Access Grant Display</a:t>
            </a:r>
          </a:p>
        </p:txBody>
      </p:sp>
    </p:spTree>
    <p:extLst>
      <p:ext uri="{BB962C8B-B14F-4D97-AF65-F5344CB8AC3E}">
        <p14:creationId xmlns:p14="http://schemas.microsoft.com/office/powerpoint/2010/main" val="1200285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8EA269-1222-49F1-BF35-67F68252F072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4709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Request Processing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635C36-B71A-498C-BF5C-4DDFE3514F35}"/>
              </a:ext>
            </a:extLst>
          </p:cNvPr>
          <p:cNvSpPr>
            <a:spLocks noGrp="1"/>
          </p:cNvSpPr>
          <p:nvPr/>
        </p:nvSpPr>
        <p:spPr>
          <a:xfrm>
            <a:off x="594360" y="859536"/>
            <a:ext cx="1005840" cy="54864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27B0F4-2974-472A-9CF6-7932D8F1735B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From MQTT input to dashboard visibility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ECAD0-6263-4305-B857-8EA88187B820}"/>
              </a:ext>
            </a:extLst>
          </p:cNvPr>
          <p:cNvSpPr>
            <a:spLocks noGrp="1"/>
          </p:cNvSpPr>
          <p:nvPr/>
        </p:nvSpPr>
        <p:spPr>
          <a:xfrm>
            <a:off x="1115568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9873C-43D5-4A75-84BF-8091D7F31B2A}"/>
              </a:ext>
            </a:extLst>
          </p:cNvPr>
          <p:cNvSpPr>
            <a:spLocks noGrp="1"/>
          </p:cNvSpPr>
          <p:nvPr/>
        </p:nvSpPr>
        <p:spPr>
          <a:xfrm>
            <a:off x="822960" y="1645920"/>
            <a:ext cx="10424160" cy="26360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>
            <a:defPPr algn="l"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1. A user publishes a JSON request to crossaccount/request.
2. AWS IoT Core evaluates the message against the configured IoT rule.
3. The rule invokes CrossAccountAccessLambda.
4. Lambda validates requestId; invalid IDs are marked FAILURE and skip identity/S3 checks.
5. Valid requests proceed to STS caller-identity lookup and an S3 access check.
6. Lambda stores a JSON result under access-results/ and publishes to crossaccount/response.
7. Streamlit reads stored JSON objects and presents request history, metrics, and details.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B8283-DEE8-4647-9E76-81D838CFE2EF}"/>
              </a:ext>
            </a:extLst>
          </p:cNvPr>
          <p:cNvSpPr>
            <a:spLocks noGrp="1"/>
          </p:cNvSpPr>
          <p:nvPr/>
        </p:nvSpPr>
        <p:spPr>
          <a:xfrm>
            <a:off x="594360" y="6473952"/>
            <a:ext cx="59436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Cross-Account Access Grant Display</a:t>
            </a:r>
          </a:p>
        </p:txBody>
      </p:sp>
    </p:spTree>
    <p:extLst>
      <p:ext uri="{BB962C8B-B14F-4D97-AF65-F5344CB8AC3E}">
        <p14:creationId xmlns:p14="http://schemas.microsoft.com/office/powerpoint/2010/main" val="82423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798C29-BA34-4BFA-9E48-0314F359419A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4709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Monitoring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8C42CB-DE9E-4134-8C18-4BF6EB72C880}"/>
              </a:ext>
            </a:extLst>
          </p:cNvPr>
          <p:cNvSpPr>
            <a:spLocks noGrp="1"/>
          </p:cNvSpPr>
          <p:nvPr/>
        </p:nvSpPr>
        <p:spPr>
          <a:xfrm>
            <a:off x="594360" y="859536"/>
            <a:ext cx="1005840" cy="54864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BBA2C-B00B-4DD9-A8FF-8335A2E47307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Features implemented in Streamlit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765AAF-947B-4BE7-914F-9499327C61AB}"/>
              </a:ext>
            </a:extLst>
          </p:cNvPr>
          <p:cNvSpPr>
            <a:spLocks noGrp="1"/>
          </p:cNvSpPr>
          <p:nvPr/>
        </p:nvSpPr>
        <p:spPr>
          <a:xfrm>
            <a:off x="1115568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65C1C9-9D81-4E58-86DF-A15F94BE29D7}"/>
              </a:ext>
            </a:extLst>
          </p:cNvPr>
          <p:cNvSpPr>
            <a:spLocks noGrp="1"/>
          </p:cNvSpPr>
          <p:nvPr/>
        </p:nvSpPr>
        <p:spPr>
          <a:xfrm>
            <a:off x="731520" y="1645920"/>
            <a:ext cx="3337560" cy="1325880"/>
          </a:xfrm>
          <a:prstGeom prst="roundRect">
            <a:avLst>
              <a:gd name="adj" fmla="val 10057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E06B9-D733-4FDF-8D1F-CD247ACE39A4}"/>
              </a:ext>
            </a:extLst>
          </p:cNvPr>
          <p:cNvSpPr>
            <a:spLocks noGrp="1"/>
          </p:cNvSpPr>
          <p:nvPr/>
        </p:nvSpPr>
        <p:spPr>
          <a:xfrm>
            <a:off x="731520" y="1719072"/>
            <a:ext cx="64008" cy="1179576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B8E3AE-B3EE-4FC8-B325-01122F209CA7}"/>
              </a:ext>
            </a:extLst>
          </p:cNvPr>
          <p:cNvSpPr>
            <a:spLocks noGrp="1"/>
          </p:cNvSpPr>
          <p:nvPr/>
        </p:nvSpPr>
        <p:spPr>
          <a:xfrm>
            <a:off x="932688" y="1810512"/>
            <a:ext cx="29718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Summary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4B8B29-FCAB-4F3E-9253-B6722E1F657D}"/>
              </a:ext>
            </a:extLst>
          </p:cNvPr>
          <p:cNvSpPr>
            <a:spLocks noGrp="1"/>
          </p:cNvSpPr>
          <p:nvPr/>
        </p:nvSpPr>
        <p:spPr>
          <a:xfrm>
            <a:off x="932688" y="2212848"/>
            <a:ext cx="2971800" cy="3718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Total, successful, failed requests, and successful S3 checks.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2D7253B-903F-45C6-B799-5C3ADC009443}"/>
              </a:ext>
            </a:extLst>
          </p:cNvPr>
          <p:cNvSpPr>
            <a:spLocks noGrp="1"/>
          </p:cNvSpPr>
          <p:nvPr/>
        </p:nvSpPr>
        <p:spPr>
          <a:xfrm>
            <a:off x="4434840" y="1645920"/>
            <a:ext cx="3337560" cy="1325880"/>
          </a:xfrm>
          <a:prstGeom prst="roundRect">
            <a:avLst>
              <a:gd name="adj" fmla="val 10057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3FCF5F-D910-4853-9141-720A7065527E}"/>
              </a:ext>
            </a:extLst>
          </p:cNvPr>
          <p:cNvSpPr>
            <a:spLocks noGrp="1"/>
          </p:cNvSpPr>
          <p:nvPr/>
        </p:nvSpPr>
        <p:spPr>
          <a:xfrm>
            <a:off x="4434840" y="1719072"/>
            <a:ext cx="64008" cy="1179576"/>
          </a:xfrm>
          <a:prstGeom prst="rect">
            <a:avLst/>
          </a:prstGeom>
          <a:solidFill>
            <a:srgbClr val="23866D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637691-9B27-4F6A-8C38-E22A1A7D6D3D}"/>
              </a:ext>
            </a:extLst>
          </p:cNvPr>
          <p:cNvSpPr>
            <a:spLocks noGrp="1"/>
          </p:cNvSpPr>
          <p:nvPr/>
        </p:nvSpPr>
        <p:spPr>
          <a:xfrm>
            <a:off x="4636007" y="1810512"/>
            <a:ext cx="29718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Request history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1ABAB2-1849-4193-9CFF-007074C4E89A}"/>
              </a:ext>
            </a:extLst>
          </p:cNvPr>
          <p:cNvSpPr>
            <a:spLocks noGrp="1"/>
          </p:cNvSpPr>
          <p:nvPr/>
        </p:nvSpPr>
        <p:spPr>
          <a:xfrm>
            <a:off x="4636007" y="2212848"/>
            <a:ext cx="2971800" cy="3718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Table of request IDs, timestamps, status, account, and storage information.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A519FFD-2D25-47FD-B776-42124C9257C4}"/>
              </a:ext>
            </a:extLst>
          </p:cNvPr>
          <p:cNvSpPr>
            <a:spLocks noGrp="1"/>
          </p:cNvSpPr>
          <p:nvPr/>
        </p:nvSpPr>
        <p:spPr>
          <a:xfrm>
            <a:off x="8138160" y="1645920"/>
            <a:ext cx="3337560" cy="1325880"/>
          </a:xfrm>
          <a:prstGeom prst="roundRect">
            <a:avLst>
              <a:gd name="adj" fmla="val 10057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2F9DA5-6B08-4EFB-9015-2BD5D9BF0DD0}"/>
              </a:ext>
            </a:extLst>
          </p:cNvPr>
          <p:cNvSpPr>
            <a:spLocks noGrp="1"/>
          </p:cNvSpPr>
          <p:nvPr/>
        </p:nvSpPr>
        <p:spPr>
          <a:xfrm>
            <a:off x="8138160" y="1719072"/>
            <a:ext cx="64008" cy="1179576"/>
          </a:xfrm>
          <a:prstGeom prst="rect">
            <a:avLst/>
          </a:prstGeom>
          <a:solidFill>
            <a:srgbClr val="B87412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A1A3F-724F-4FA1-B3B3-B5E88B305979}"/>
              </a:ext>
            </a:extLst>
          </p:cNvPr>
          <p:cNvSpPr>
            <a:spLocks noGrp="1"/>
          </p:cNvSpPr>
          <p:nvPr/>
        </p:nvSpPr>
        <p:spPr>
          <a:xfrm>
            <a:off x="8339328" y="1810512"/>
            <a:ext cx="29718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Request inspector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BBEC78-D27F-4B82-882F-F4ACA65807DA}"/>
              </a:ext>
            </a:extLst>
          </p:cNvPr>
          <p:cNvSpPr>
            <a:spLocks noGrp="1"/>
          </p:cNvSpPr>
          <p:nvPr/>
        </p:nvSpPr>
        <p:spPr>
          <a:xfrm>
            <a:off x="8339328" y="2212848"/>
            <a:ext cx="2971800" cy="3718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Select a request and review the recorded JSON details.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C0D3BEE-0896-427B-8A07-49F5EB152D11}"/>
              </a:ext>
            </a:extLst>
          </p:cNvPr>
          <p:cNvSpPr>
            <a:spLocks noGrp="1"/>
          </p:cNvSpPr>
          <p:nvPr/>
        </p:nvSpPr>
        <p:spPr>
          <a:xfrm>
            <a:off x="731520" y="3337560"/>
            <a:ext cx="3337560" cy="1325880"/>
          </a:xfrm>
          <a:prstGeom prst="roundRect">
            <a:avLst>
              <a:gd name="adj" fmla="val 10057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BAE6B2-9389-4594-8F0D-BC61DCA9889F}"/>
              </a:ext>
            </a:extLst>
          </p:cNvPr>
          <p:cNvSpPr>
            <a:spLocks noGrp="1"/>
          </p:cNvSpPr>
          <p:nvPr/>
        </p:nvSpPr>
        <p:spPr>
          <a:xfrm>
            <a:off x="731520" y="3410712"/>
            <a:ext cx="64008" cy="1179576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5E0E66-5313-4849-995B-85B920106BB6}"/>
              </a:ext>
            </a:extLst>
          </p:cNvPr>
          <p:cNvSpPr>
            <a:spLocks noGrp="1"/>
          </p:cNvSpPr>
          <p:nvPr/>
        </p:nvSpPr>
        <p:spPr>
          <a:xfrm>
            <a:off x="932688" y="3502152"/>
            <a:ext cx="29718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Charts &amp; filters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78954E-6607-49C9-AB3E-BC9C33A59AE1}"/>
              </a:ext>
            </a:extLst>
          </p:cNvPr>
          <p:cNvSpPr>
            <a:spLocks noGrp="1"/>
          </p:cNvSpPr>
          <p:nvPr/>
        </p:nvSpPr>
        <p:spPr>
          <a:xfrm>
            <a:off x="932688" y="3904487"/>
            <a:ext cx="2971800" cy="3718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Visualize request status and narrow records with search or status filters.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645F7A1-2262-41C4-A0A1-A56F50C0929A}"/>
              </a:ext>
            </a:extLst>
          </p:cNvPr>
          <p:cNvSpPr>
            <a:spLocks noGrp="1"/>
          </p:cNvSpPr>
          <p:nvPr/>
        </p:nvSpPr>
        <p:spPr>
          <a:xfrm>
            <a:off x="4434840" y="3337560"/>
            <a:ext cx="3337560" cy="1325880"/>
          </a:xfrm>
          <a:prstGeom prst="roundRect">
            <a:avLst>
              <a:gd name="adj" fmla="val 10057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931874-4F6E-46ED-B81D-0A89C92ED862}"/>
              </a:ext>
            </a:extLst>
          </p:cNvPr>
          <p:cNvSpPr>
            <a:spLocks noGrp="1"/>
          </p:cNvSpPr>
          <p:nvPr/>
        </p:nvSpPr>
        <p:spPr>
          <a:xfrm>
            <a:off x="4434840" y="3410712"/>
            <a:ext cx="64008" cy="1179576"/>
          </a:xfrm>
          <a:prstGeom prst="rect">
            <a:avLst/>
          </a:prstGeom>
          <a:solidFill>
            <a:srgbClr val="23866D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DDB6EC-A97C-4972-834F-24B639006FE9}"/>
              </a:ext>
            </a:extLst>
          </p:cNvPr>
          <p:cNvSpPr>
            <a:spLocks noGrp="1"/>
          </p:cNvSpPr>
          <p:nvPr/>
        </p:nvSpPr>
        <p:spPr>
          <a:xfrm>
            <a:off x="4636007" y="3502152"/>
            <a:ext cx="29718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CSV export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B69E81-DB1A-46D8-BCFC-811F00BD8363}"/>
              </a:ext>
            </a:extLst>
          </p:cNvPr>
          <p:cNvSpPr>
            <a:spLocks noGrp="1"/>
          </p:cNvSpPr>
          <p:nvPr/>
        </p:nvSpPr>
        <p:spPr>
          <a:xfrm>
            <a:off x="4636007" y="3904487"/>
            <a:ext cx="2971800" cy="3718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Download the visible request-history data for offline review.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9B460A1-35D6-4D80-8533-4121DBC56957}"/>
              </a:ext>
            </a:extLst>
          </p:cNvPr>
          <p:cNvSpPr>
            <a:spLocks noGrp="1"/>
          </p:cNvSpPr>
          <p:nvPr/>
        </p:nvSpPr>
        <p:spPr>
          <a:xfrm>
            <a:off x="8138160" y="3337560"/>
            <a:ext cx="3337560" cy="1325880"/>
          </a:xfrm>
          <a:prstGeom prst="roundRect">
            <a:avLst>
              <a:gd name="adj" fmla="val 10057"/>
            </a:avLst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CCB1AC-CFAD-478C-8628-E59E14885A87}"/>
              </a:ext>
            </a:extLst>
          </p:cNvPr>
          <p:cNvSpPr>
            <a:spLocks noGrp="1"/>
          </p:cNvSpPr>
          <p:nvPr/>
        </p:nvSpPr>
        <p:spPr>
          <a:xfrm>
            <a:off x="8138160" y="3410712"/>
            <a:ext cx="64008" cy="1179576"/>
          </a:xfrm>
          <a:prstGeom prst="rect">
            <a:avLst/>
          </a:prstGeom>
          <a:solidFill>
            <a:srgbClr val="B87412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AA2A5F-5448-4619-865B-A68549A62E12}"/>
              </a:ext>
            </a:extLst>
          </p:cNvPr>
          <p:cNvSpPr>
            <a:spLocks noGrp="1"/>
          </p:cNvSpPr>
          <p:nvPr/>
        </p:nvSpPr>
        <p:spPr>
          <a:xfrm>
            <a:off x="8339328" y="3502152"/>
            <a:ext cx="2971800" cy="2651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5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Auto-refresh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BD5EDD-8B2D-4054-939B-43AB786F065B}"/>
              </a:ext>
            </a:extLst>
          </p:cNvPr>
          <p:cNvSpPr>
            <a:spLocks noGrp="1"/>
          </p:cNvSpPr>
          <p:nvPr/>
        </p:nvSpPr>
        <p:spPr>
          <a:xfrm>
            <a:off x="8339328" y="3904487"/>
            <a:ext cx="2971800" cy="3718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2D3748"/>
                </a:solidFill>
                <a:latin typeface="Aptos"/>
                <a:ea typeface="Aptos"/>
                <a:cs typeface="Aptos"/>
              </a:rPr>
              <a:t>Reruns every 30 seconds; cached S3 results may update on the cache schedule.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25C847-8CC0-45E6-9F5D-C69C32641319}"/>
              </a:ext>
            </a:extLst>
          </p:cNvPr>
          <p:cNvSpPr>
            <a:spLocks noGrp="1"/>
          </p:cNvSpPr>
          <p:nvPr/>
        </p:nvSpPr>
        <p:spPr>
          <a:xfrm>
            <a:off x="822960" y="5166360"/>
            <a:ext cx="104241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Evidence screenshots: E07_Dashboard_Overview.png and E08_Request_Details.png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D3D201-FF0A-4603-BCD2-2639F67F382C}"/>
              </a:ext>
            </a:extLst>
          </p:cNvPr>
          <p:cNvSpPr>
            <a:spLocks noGrp="1"/>
          </p:cNvSpPr>
          <p:nvPr/>
        </p:nvSpPr>
        <p:spPr>
          <a:xfrm>
            <a:off x="594360" y="6473952"/>
            <a:ext cx="59436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Cross-Account Access Grant Display</a:t>
            </a:r>
          </a:p>
        </p:txBody>
      </p:sp>
    </p:spTree>
    <p:extLst>
      <p:ext uri="{BB962C8B-B14F-4D97-AF65-F5344CB8AC3E}">
        <p14:creationId xmlns:p14="http://schemas.microsoft.com/office/powerpoint/2010/main" val="150236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98577F-6FA1-4DB3-9384-9087D880612A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4709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Testing &amp;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745CFC-BB29-4346-A169-3FA6509A1E58}"/>
              </a:ext>
            </a:extLst>
          </p:cNvPr>
          <p:cNvSpPr>
            <a:spLocks noGrp="1"/>
          </p:cNvSpPr>
          <p:nvPr/>
        </p:nvSpPr>
        <p:spPr>
          <a:xfrm>
            <a:off x="594360" y="859536"/>
            <a:ext cx="1005840" cy="54864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36074-2C43-492C-AA38-9A189D370D86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Recorded results from the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0DB8C0-B93F-4559-8614-E9D1950DFD8B}"/>
              </a:ext>
            </a:extLst>
          </p:cNvPr>
          <p:cNvSpPr>
            <a:spLocks noGrp="1"/>
          </p:cNvSpPr>
          <p:nvPr/>
        </p:nvSpPr>
        <p:spPr>
          <a:xfrm>
            <a:off x="1115568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5B841D-3A25-40C1-BE2B-89AF60C837E1}"/>
              </a:ext>
            </a:extLst>
          </p:cNvPr>
          <p:cNvSpPr>
            <a:spLocks noGrp="1"/>
          </p:cNvSpPr>
          <p:nvPr/>
        </p:nvSpPr>
        <p:spPr>
          <a:xfrm>
            <a:off x="731520" y="1508760"/>
            <a:ext cx="3246120" cy="1097280"/>
          </a:xfrm>
          <a:prstGeom prst="roundRect">
            <a:avLst>
              <a:gd name="adj" fmla="val 12153"/>
            </a:avLst>
          </a:prstGeom>
          <a:solidFill>
            <a:srgbClr val="E6F5EC"/>
          </a:solidFill>
          <a:ln w="9525">
            <a:solidFill>
              <a:srgbClr val="C5E5D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9ADFEB-3997-4C51-A19F-5542E5FA9C92}"/>
              </a:ext>
            </a:extLst>
          </p:cNvPr>
          <p:cNvSpPr>
            <a:spLocks noGrp="1"/>
          </p:cNvSpPr>
          <p:nvPr/>
        </p:nvSpPr>
        <p:spPr>
          <a:xfrm>
            <a:off x="731520" y="1581912"/>
            <a:ext cx="64008" cy="950976"/>
          </a:xfrm>
          <a:prstGeom prst="rect">
            <a:avLst/>
          </a:prstGeom>
          <a:solidFill>
            <a:srgbClr val="23866D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693A8-552D-44D9-BB0E-7CCD40E9EC86}"/>
              </a:ext>
            </a:extLst>
          </p:cNvPr>
          <p:cNvSpPr>
            <a:spLocks noGrp="1"/>
          </p:cNvSpPr>
          <p:nvPr/>
        </p:nvSpPr>
        <p:spPr>
          <a:xfrm>
            <a:off x="932688" y="1673351"/>
            <a:ext cx="2880360" cy="295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t>16 Passed</a:t>
            </a:r>
          </a:p>
          <a:p>
            <a:r>
              <a:t>TC-04 empty JSON validation now confirmed.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9FFF88-6FB3-414D-AF67-78035DC0CFF7}"/>
              </a:ext>
            </a:extLst>
          </p:cNvPr>
          <p:cNvSpPr>
            <a:spLocks noGrp="1"/>
          </p:cNvSpPr>
          <p:nvPr/>
        </p:nvSpPr>
        <p:spPr>
          <a:xfrm>
            <a:off x="822960" y="2796540"/>
            <a:ext cx="2880360" cy="204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2D3748"/>
                </a:solidFill>
                <a:latin typeface="Aptos"/>
                <a:ea typeface="Aptos"/>
                <a:cs typeface="Aptos"/>
              </a:rPr>
              <a:t>Includes TC-18 duplicate-ID test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8D4F24A-F16E-4496-A5F8-C0A9098AB735}"/>
              </a:ext>
            </a:extLst>
          </p:cNvPr>
          <p:cNvSpPr>
            <a:spLocks noGrp="1"/>
          </p:cNvSpPr>
          <p:nvPr/>
        </p:nvSpPr>
        <p:spPr>
          <a:xfrm>
            <a:off x="4480560" y="1508760"/>
            <a:ext cx="3246120" cy="1097280"/>
          </a:xfrm>
          <a:prstGeom prst="roundRect">
            <a:avLst>
              <a:gd name="adj" fmla="val 12153"/>
            </a:avLst>
          </a:prstGeom>
          <a:solidFill>
            <a:srgbClr val="FFF4DE"/>
          </a:solidFill>
          <a:ln w="9525">
            <a:solidFill>
              <a:srgbClr val="F1D49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76B170-AD4C-429E-A066-1E179905BDD8}"/>
              </a:ext>
            </a:extLst>
          </p:cNvPr>
          <p:cNvSpPr>
            <a:spLocks noGrp="1"/>
          </p:cNvSpPr>
          <p:nvPr/>
        </p:nvSpPr>
        <p:spPr>
          <a:xfrm>
            <a:off x="4480560" y="1581912"/>
            <a:ext cx="64008" cy="950976"/>
          </a:xfrm>
          <a:prstGeom prst="rect">
            <a:avLst/>
          </a:prstGeom>
          <a:solidFill>
            <a:srgbClr val="B87412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3D76F8-D323-4240-B3B6-6F314927CF4E}"/>
              </a:ext>
            </a:extLst>
          </p:cNvPr>
          <p:cNvSpPr>
            <a:spLocks noGrp="1"/>
          </p:cNvSpPr>
          <p:nvPr/>
        </p:nvSpPr>
        <p:spPr>
          <a:xfrm>
            <a:off x="4681728" y="1673351"/>
            <a:ext cx="2880360" cy="295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t>1 Inconclusive</a:t>
            </a:r>
          </a:p>
          <a:p>
            <a:r>
              <a:t>TC-05: malformed JSON rejection point not proven.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1EF00-FA82-4772-9EA7-B3C0583BD357}"/>
              </a:ext>
            </a:extLst>
          </p:cNvPr>
          <p:cNvSpPr>
            <a:spLocks noGrp="1"/>
          </p:cNvSpPr>
          <p:nvPr/>
        </p:nvSpPr>
        <p:spPr>
          <a:xfrm>
            <a:off x="822960" y="5599764"/>
            <a:ext cx="2880360" cy="204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rPr dirty="0"/>
              <a:t>TC-04: empty JSON {} retest passed.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3BA5284-63B8-4042-B64D-D88AB20F93F7}"/>
              </a:ext>
            </a:extLst>
          </p:cNvPr>
          <p:cNvSpPr>
            <a:spLocks noGrp="1"/>
          </p:cNvSpPr>
          <p:nvPr/>
        </p:nvSpPr>
        <p:spPr>
          <a:xfrm>
            <a:off x="8229600" y="1508760"/>
            <a:ext cx="3246120" cy="1097280"/>
          </a:xfrm>
          <a:prstGeom prst="roundRect">
            <a:avLst>
              <a:gd name="adj" fmla="val 12153"/>
            </a:avLst>
          </a:prstGeom>
          <a:solidFill>
            <a:srgbClr val="FCEAEA"/>
          </a:solidFill>
          <a:ln w="9525">
            <a:solidFill>
              <a:srgbClr val="E9C1C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B31E23-4EEA-4E6F-B624-0E07F230F63B}"/>
              </a:ext>
            </a:extLst>
          </p:cNvPr>
          <p:cNvSpPr>
            <a:spLocks noGrp="1"/>
          </p:cNvSpPr>
          <p:nvPr/>
        </p:nvSpPr>
        <p:spPr>
          <a:xfrm>
            <a:off x="8229600" y="1581912"/>
            <a:ext cx="64008" cy="950976"/>
          </a:xfrm>
          <a:prstGeom prst="rect">
            <a:avLst/>
          </a:prstGeom>
          <a:solidFill>
            <a:srgbClr val="B13C3C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FA4DB-2723-4DFB-B5B3-CD90E87304F0}"/>
              </a:ext>
            </a:extLst>
          </p:cNvPr>
          <p:cNvSpPr>
            <a:spLocks noGrp="1"/>
          </p:cNvSpPr>
          <p:nvPr/>
        </p:nvSpPr>
        <p:spPr>
          <a:xfrm>
            <a:off x="8430768" y="1673351"/>
            <a:ext cx="2880360" cy="295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t>1 Not Executed</a:t>
            </a:r>
          </a:p>
          <a:p>
            <a:r>
              <a:t>TC-06: live S3 access-denied test not run.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3C1B1-A737-4D02-93B9-D6746EF52843}"/>
              </a:ext>
            </a:extLst>
          </p:cNvPr>
          <p:cNvSpPr>
            <a:spLocks noGrp="1"/>
          </p:cNvSpPr>
          <p:nvPr/>
        </p:nvSpPr>
        <p:spPr>
          <a:xfrm>
            <a:off x="822960" y="5875020"/>
            <a:ext cx="2880360" cy="204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rPr dirty="0"/>
              <a:t>TC-05 remains inconclusive; TC-06 live S3 denial test not run.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D80997-91EB-4795-BC60-9B9828543E83}"/>
              </a:ext>
            </a:extLst>
          </p:cNvPr>
          <p:cNvSpPr>
            <a:spLocks noGrp="1"/>
          </p:cNvSpPr>
          <p:nvPr/>
        </p:nvSpPr>
        <p:spPr>
          <a:xfrm>
            <a:off x="822960" y="3063240"/>
            <a:ext cx="102412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End-to-end validation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E14A83-6263-4678-8E58-DF5C3626BCA8}"/>
              </a:ext>
            </a:extLst>
          </p:cNvPr>
          <p:cNvSpPr>
            <a:spLocks noGrp="1"/>
          </p:cNvSpPr>
          <p:nvPr/>
        </p:nvSpPr>
        <p:spPr>
          <a:xfrm>
            <a:off x="822960" y="3520440"/>
            <a:ext cx="103327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5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t>Verified flow: MQTT request → Lambda processing → S3 result → dashboard visibility.</a:t>
            </a:r>
          </a:p>
          <a:p>
            <a:r>
              <a:t>TC-04: `{}` returned the expected FAILURE validation response; failure report stored in S3.</a:t>
            </a:r>
          </a:p>
          <a:p>
            <a:r>
              <a:t>TC-05: two malformed publishes produced no observed Lambda invocation or MQTT response. IoT logging was disabled, ParseError was unavailable, and TopicMatch was not graphed; exact rejection point remains unconfirmed.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8994E-374F-4A87-9998-53A5FABD855F}"/>
              </a:ext>
            </a:extLst>
          </p:cNvPr>
          <p:cNvSpPr>
            <a:spLocks noGrp="1"/>
          </p:cNvSpPr>
          <p:nvPr/>
        </p:nvSpPr>
        <p:spPr>
          <a:xfrm>
            <a:off x="822960" y="4572000"/>
            <a:ext cx="10332720" cy="2499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400" b="1">
                <a:solidFill>
                  <a:srgbClr val="23866D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23866D"/>
                </a:solidFill>
                <a:latin typeface="Aptos"/>
                <a:ea typeface="Aptos"/>
                <a:cs typeface="Aptos"/>
              </a:rPr>
              <a:t>Repeated request IDs now produce separate S3 objects and dashboard records. Full cross-account role assumption remains unverified.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E011B9-A2A8-4B90-8348-59C1CC089637}"/>
              </a:ext>
            </a:extLst>
          </p:cNvPr>
          <p:cNvSpPr>
            <a:spLocks noGrp="1"/>
          </p:cNvSpPr>
          <p:nvPr/>
        </p:nvSpPr>
        <p:spPr>
          <a:xfrm>
            <a:off x="822960" y="5324508"/>
            <a:ext cx="10332720" cy="204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rPr dirty="0"/>
              <a:t>TC-18: Duplicate request ID — PASS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44494C-2027-404E-9A85-78C82003A437}"/>
              </a:ext>
            </a:extLst>
          </p:cNvPr>
          <p:cNvSpPr>
            <a:spLocks noGrp="1"/>
          </p:cNvSpPr>
          <p:nvPr/>
        </p:nvSpPr>
        <p:spPr>
          <a:xfrm>
            <a:off x="594360" y="6473952"/>
            <a:ext cx="59436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63748A"/>
                </a:solidFill>
                <a:latin typeface="Aptos"/>
                <a:ea typeface="Aptos"/>
                <a:cs typeface="Aptos"/>
              </a:rPr>
              <a:t>Cross-Account Access Grant Display</a:t>
            </a:r>
          </a:p>
        </p:txBody>
      </p:sp>
    </p:spTree>
    <p:extLst>
      <p:ext uri="{BB962C8B-B14F-4D97-AF65-F5344CB8AC3E}">
        <p14:creationId xmlns:p14="http://schemas.microsoft.com/office/powerpoint/2010/main" val="1803024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61A11C-2CF2-4620-8513-B4A34BDC00A7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4709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Limitations &amp; Security Considerations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4B2324-DEB1-4B8A-AC44-54A03BDD1774}"/>
              </a:ext>
            </a:extLst>
          </p:cNvPr>
          <p:cNvSpPr>
            <a:spLocks noGrp="1"/>
          </p:cNvSpPr>
          <p:nvPr/>
        </p:nvSpPr>
        <p:spPr>
          <a:xfrm>
            <a:off x="594360" y="859536"/>
            <a:ext cx="1005840" cy="54864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763253-4430-4C2C-9F15-52388D8BE4B4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What the current implementation does—and does not—prove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98D79-414E-4CD1-AFFD-43FB88F5F2C7}"/>
              </a:ext>
            </a:extLst>
          </p:cNvPr>
          <p:cNvSpPr>
            <a:spLocks noGrp="1"/>
          </p:cNvSpPr>
          <p:nvPr/>
        </p:nvSpPr>
        <p:spPr>
          <a:xfrm>
            <a:off x="1115568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76C5C-53B9-42AE-8142-80ED7E254A21}"/>
              </a:ext>
            </a:extLst>
          </p:cNvPr>
          <p:cNvSpPr>
            <a:spLocks noGrp="1"/>
          </p:cNvSpPr>
          <p:nvPr/>
        </p:nvSpPr>
        <p:spPr>
          <a:xfrm>
            <a:off x="822960" y="1645920"/>
            <a:ext cx="10424160" cy="26360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>
            <a:defPPr algn="l"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r>
              <a:t>Malformed JSON: no Lambda invocation or MQTT response observed after two publishes; IoT logging was disabled, ParseError unavailable, and TopicMatch time series not checked. Exact rejection point remains unconfirmed.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598139-807E-4554-A7EB-49593880D793}"/>
              </a:ext>
            </a:extLst>
          </p:cNvPr>
          <p:cNvSpPr>
            <a:spLocks noGrp="1"/>
          </p:cNvSpPr>
          <p:nvPr/>
        </p:nvSpPr>
        <p:spPr>
          <a:xfrm>
            <a:off x="822960" y="5623560"/>
            <a:ext cx="10515600" cy="502920"/>
          </a:xfrm>
          <a:prstGeom prst="roundRect">
            <a:avLst>
              <a:gd name="adj" fmla="val 26515"/>
            </a:avLst>
          </a:prstGeom>
          <a:solidFill>
            <a:srgbClr val="FFF4DE"/>
          </a:solidFill>
          <a:ln w="9525">
            <a:solidFill>
              <a:srgbClr val="F1D49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4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1B977C-57D8-43AB-96DF-D9725270F92A}"/>
              </a:ext>
            </a:extLst>
          </p:cNvPr>
          <p:cNvSpPr>
            <a:spLocks noGrp="1"/>
          </p:cNvSpPr>
          <p:nvPr/>
        </p:nvSpPr>
        <p:spPr>
          <a:xfrm>
            <a:off x="1024128" y="5733288"/>
            <a:ext cx="10058400" cy="204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100" b="1">
                <a:solidFill>
                  <a:srgbClr val="B87412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B87412"/>
                </a:solidFill>
                <a:latin typeface="Aptos"/>
                <a:ea typeface="Aptos"/>
                <a:cs typeface="Aptos"/>
              </a:rPr>
              <a:t>Describe this deliverable as an access-monitoring prototype, not a fully verified cross-account authorization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BA15F-EB6A-4D16-894E-D8FD8C427FC5}"/>
              </a:ext>
            </a:extLst>
          </p:cNvPr>
          <p:cNvSpPr>
            <a:spLocks noGrp="1"/>
          </p:cNvSpPr>
          <p:nvPr/>
        </p:nvSpPr>
        <p:spPr>
          <a:xfrm>
            <a:off x="594360" y="6473952"/>
            <a:ext cx="59436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Cross-Account Access Grant Display</a:t>
            </a:r>
          </a:p>
        </p:txBody>
      </p:sp>
    </p:spTree>
    <p:extLst>
      <p:ext uri="{BB962C8B-B14F-4D97-AF65-F5344CB8AC3E}">
        <p14:creationId xmlns:p14="http://schemas.microsoft.com/office/powerpoint/2010/main" val="94128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1B6345-496F-4470-96F9-DFAD0DB5463F}"/>
              </a:ext>
            </a:extLst>
          </p:cNvPr>
          <p:cNvSpPr>
            <a:spLocks noGrp="1"/>
          </p:cNvSpPr>
          <p:nvPr/>
        </p:nvSpPr>
        <p:spPr>
          <a:xfrm>
            <a:off x="594360" y="320040"/>
            <a:ext cx="10972800" cy="4709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850" b="1">
                <a:solidFill>
                  <a:srgbClr val="142B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B4A"/>
                </a:solidFill>
                <a:latin typeface="Aptos"/>
                <a:ea typeface="Aptos"/>
                <a:cs typeface="Aptos"/>
              </a:rPr>
              <a:t>Future Enhancements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5EBF62-7FA2-4272-A545-A0D19D5DB6D6}"/>
              </a:ext>
            </a:extLst>
          </p:cNvPr>
          <p:cNvSpPr>
            <a:spLocks noGrp="1"/>
          </p:cNvSpPr>
          <p:nvPr/>
        </p:nvSpPr>
        <p:spPr>
          <a:xfrm>
            <a:off x="594360" y="859536"/>
            <a:ext cx="1005840" cy="54864"/>
          </a:xfrm>
          <a:prstGeom prst="rect">
            <a:avLst/>
          </a:prstGeom>
          <a:solidFill>
            <a:srgbClr val="2D6DB0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05DA8-6393-44A7-A6BA-ECA2C323ABDB}"/>
              </a:ext>
            </a:extLst>
          </p:cNvPr>
          <p:cNvSpPr>
            <a:spLocks noGrp="1"/>
          </p:cNvSpPr>
          <p:nvPr/>
        </p:nvSpPr>
        <p:spPr>
          <a:xfrm>
            <a:off x="594360" y="987552"/>
            <a:ext cx="109728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200">
                <a:solidFill>
                  <a:srgbClr val="606D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D80"/>
                </a:solidFill>
                <a:latin typeface="Aptos"/>
                <a:ea typeface="Aptos"/>
                <a:cs typeface="Aptos"/>
              </a:rPr>
              <a:t>Possible next steps in an authorized AWS environment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7CB64-5C20-4982-9921-0B227538DE9F}"/>
              </a:ext>
            </a:extLst>
          </p:cNvPr>
          <p:cNvSpPr>
            <a:spLocks noGrp="1"/>
          </p:cNvSpPr>
          <p:nvPr/>
        </p:nvSpPr>
        <p:spPr>
          <a:xfrm>
            <a:off x="1115568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087E0-94A9-4B7B-AF17-A97E9B1E747C}"/>
              </a:ext>
            </a:extLst>
          </p:cNvPr>
          <p:cNvSpPr>
            <a:spLocks noGrp="1"/>
          </p:cNvSpPr>
          <p:nvPr/>
        </p:nvSpPr>
        <p:spPr>
          <a:xfrm>
            <a:off x="822960" y="1645920"/>
            <a:ext cx="10424160" cy="29255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>
            <a:defPPr algn="l"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Configure and validate cross-account trust and role assumption with approved IAM permissions.</a:t>
            </a:r>
          </a:p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Add stronger request validation and explicit malformed-input handling.</a:t>
            </a:r>
          </a:p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Run controlled negative tests for S3 access denial and other AWS service failures.</a:t>
            </a:r>
          </a:p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Improve structured logging, request correlation, and failure alerts.</a:t>
            </a:r>
          </a:p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Add date-range filters, richer reporting, and more detailed dashboard analytics.</a:t>
            </a:r>
          </a:p>
          <a:p>
            <a:pPr algn="l">
              <a:spcAft>
                <a:spcPts val="1300"/>
              </a:spcAft>
              <a:buNone/>
              <a:defRPr sz="1900">
                <a:solidFill>
                  <a:srgbClr val="2D3748"/>
                </a:solidFill>
                <a:latin typeface="Aptos"/>
                <a:ea typeface="Aptos"/>
                <a:cs typeface="Aptos"/>
              </a:defRPr>
            </a:pPr>
            <a:r>
              <a:rPr sz="1900">
                <a:solidFill>
                  <a:srgbClr val="2D3748"/>
                </a:solidFill>
                <a:latin typeface="Aptos"/>
                <a:ea typeface="Aptos"/>
                <a:cs typeface="Aptos"/>
              </a:rPr>
              <a:t>Review authentication, data retention, least privilege, and deployment requirements before production use.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64897-D1C9-4100-ADE1-EAB65941554E}"/>
              </a:ext>
            </a:extLst>
          </p:cNvPr>
          <p:cNvSpPr>
            <a:spLocks noGrp="1"/>
          </p:cNvSpPr>
          <p:nvPr/>
        </p:nvSpPr>
        <p:spPr>
          <a:xfrm>
            <a:off x="594360" y="6473952"/>
            <a:ext cx="59436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900">
                <a:solidFill>
                  <a:srgbClr val="6374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48A"/>
                </a:solidFill>
                <a:latin typeface="Aptos"/>
                <a:ea typeface="Aptos"/>
                <a:cs typeface="Aptos"/>
              </a:rPr>
              <a:t>Cross-Account Access Grant Display</a:t>
            </a:r>
          </a:p>
        </p:txBody>
      </p:sp>
    </p:spTree>
    <p:extLst>
      <p:ext uri="{BB962C8B-B14F-4D97-AF65-F5344CB8AC3E}">
        <p14:creationId xmlns:p14="http://schemas.microsoft.com/office/powerpoint/2010/main" val="132934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FAF1F-FE7A-4844-AA43-B8F13D4747B7}"/>
              </a:ext>
            </a:extLst>
          </p:cNvPr>
          <p:cNvSpPr>
            <a:spLocks noGrp="1"/>
          </p:cNvSpPr>
          <p:nvPr/>
        </p:nvSpPr>
        <p:spPr>
          <a:xfrm>
            <a:off x="777240" y="594360"/>
            <a:ext cx="10607040" cy="5394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7854CC-6CD4-4DAE-B2F4-01B2AB812288}"/>
              </a:ext>
            </a:extLst>
          </p:cNvPr>
          <p:cNvSpPr>
            <a:spLocks noGrp="1"/>
          </p:cNvSpPr>
          <p:nvPr/>
        </p:nvSpPr>
        <p:spPr>
          <a:xfrm>
            <a:off x="777240" y="1234440"/>
            <a:ext cx="1005840" cy="54864"/>
          </a:xfrm>
          <a:prstGeom prst="rect">
            <a:avLst/>
          </a:prstGeom>
          <a:solidFill>
            <a:srgbClr val="5FA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9E85E8-E8A7-427C-B241-4B11B58E165B}"/>
              </a:ext>
            </a:extLst>
          </p:cNvPr>
          <p:cNvSpPr>
            <a:spLocks noGrp="1"/>
          </p:cNvSpPr>
          <p:nvPr/>
        </p:nvSpPr>
        <p:spPr>
          <a:xfrm>
            <a:off x="822960" y="1691640"/>
            <a:ext cx="10241280" cy="7376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prototype connects MQTT messaging, serverless processing, S3 result storage, and a monitoring dashboard.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A99F9-19B4-4187-950A-0CC2C9E5BEDD}"/>
              </a:ext>
            </a:extLst>
          </p:cNvPr>
          <p:cNvSpPr>
            <a:spLocks noGrp="1"/>
          </p:cNvSpPr>
          <p:nvPr/>
        </p:nvSpPr>
        <p:spPr>
          <a:xfrm>
            <a:off x="822960" y="3154680"/>
            <a:ext cx="1005840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18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Testing verified the main request-processing and monitoring workflow. Full cross-account role assumption remains unverified and is documented as a limitation.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BB3C5-07B0-454F-83C6-2F7DC26BA708}"/>
              </a:ext>
            </a:extLst>
          </p:cNvPr>
          <p:cNvSpPr>
            <a:spLocks noGrp="1"/>
          </p:cNvSpPr>
          <p:nvPr/>
        </p:nvSpPr>
        <p:spPr>
          <a:xfrm>
            <a:off x="822960" y="5257800"/>
            <a:ext cx="9601200" cy="3718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l"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buNone/>
              <a:defRPr sz="2200" b="1">
                <a:solidFill>
                  <a:srgbClr val="8FC4F2"/>
                </a:solidFill>
                <a:latin typeface="Aptos"/>
                <a:ea typeface="Aptos"/>
                <a:cs typeface="Aptos"/>
              </a:defRPr>
            </a:pPr>
            <a:r>
              <a:rPr sz="2200" b="1">
                <a:solidFill>
                  <a:srgbClr val="8FC4F2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02BF2-F053-4A28-9A28-F9ABC1DE5F24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457200" cy="1737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>
            <a:defPPr algn="r"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buNone/>
              <a:defRPr sz="900">
                <a:solidFill>
                  <a:srgbClr val="C8D8E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8E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88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Microsoft Office PowerPoint</Application>
  <DocSecurity>0</DocSecurity>
  <PresentationFormat>Widescreen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Sai Raj Bitla</cp:lastModifiedBy>
  <cp:revision>1</cp:revision>
  <dcterms:created xsi:type="dcterms:W3CDTF">2026-10-26T18:59:39Z</dcterms:created>
  <dcterms:modified xsi:type="dcterms:W3CDTF">2026-10-31T09:02:42Z</dcterms:modified>
</cp:coreProperties>
</file>