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4d9f26a9c724aed" Type="http://schemas.openxmlformats.org/officeDocument/2006/relationships/extended-properties" Target="docProps/app.xml"/><Relationship Id="R9103727ec1a24c00" Type="http://schemas.openxmlformats.org/package/2006/relationships/metadata/core-properties" Target="docProps/core.xml"/><Relationship Id="R9f809710dd5040d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73e5f590c14ef9"/>
  </p:sldMasterIdLst>
  <p:notesMasterIdLst>
    <p:notesMasterId xmlns:r="http://schemas.openxmlformats.org/officeDocument/2006/relationships" r:id="R317a68b467d34351"/>
  </p:notesMasterIdLst>
  <p:sldIdLst>
    <p:sldId xmlns:r="http://schemas.openxmlformats.org/officeDocument/2006/relationships" id="256" r:id="R9de363d4cbb7403c"/>
    <p:sldId xmlns:r="http://schemas.openxmlformats.org/officeDocument/2006/relationships" id="257" r:id="R61f34b3080874b98"/>
    <p:sldId xmlns:r="http://schemas.openxmlformats.org/officeDocument/2006/relationships" id="258" r:id="R6fc57ff733f54d34"/>
    <p:sldId xmlns:r="http://schemas.openxmlformats.org/officeDocument/2006/relationships" id="259" r:id="Rf940aad22d7c438c"/>
    <p:sldId xmlns:r="http://schemas.openxmlformats.org/officeDocument/2006/relationships" id="260" r:id="R63ff2c8880f84726"/>
    <p:sldId xmlns:r="http://schemas.openxmlformats.org/officeDocument/2006/relationships" id="261" r:id="R5cef590264344e11"/>
    <p:sldId xmlns:r="http://schemas.openxmlformats.org/officeDocument/2006/relationships" id="262" r:id="Rbd68cbb3448c4e64"/>
    <p:sldId xmlns:r="http://schemas.openxmlformats.org/officeDocument/2006/relationships" id="263" r:id="R12bfa6daf5fc409c"/>
    <p:sldId xmlns:r="http://schemas.openxmlformats.org/officeDocument/2006/relationships" id="264" r:id="Rdd3b82d4976642e3"/>
    <p:sldId xmlns:r="http://schemas.openxmlformats.org/officeDocument/2006/relationships" id="265" r:id="R1993943506634598"/>
    <p:sldId xmlns:r="http://schemas.openxmlformats.org/officeDocument/2006/relationships" id="266" r:id="Ra4fc954efe97494a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287b35e4a7a4e9b" Type="http://schemas.openxmlformats.org/officeDocument/2006/relationships/theme" Target="theme/theme1.xml"/><Relationship Id="R12bfa6daf5fc409c" Type="http://schemas.openxmlformats.org/officeDocument/2006/relationships/slide" Target="slides/slide8.xml"/><Relationship Id="R1993943506634598" Type="http://schemas.openxmlformats.org/officeDocument/2006/relationships/slide" Target="slides/slide10.xml"/><Relationship Id="R317a68b467d34351" Type="http://schemas.openxmlformats.org/officeDocument/2006/relationships/notesMaster" Target="notesMasters/notesMaster1.xml"/><Relationship Id="R3d305e5e63aa40a0" Type="http://schemas.openxmlformats.org/officeDocument/2006/relationships/presProps" Target="presProps.xml"/><Relationship Id="R5cef590264344e11" Type="http://schemas.openxmlformats.org/officeDocument/2006/relationships/slide" Target="slides/slide6.xml"/><Relationship Id="R61f34b3080874b98" Type="http://schemas.openxmlformats.org/officeDocument/2006/relationships/slide" Target="slides/slide2.xml"/><Relationship Id="R63ff2c8880f84726" Type="http://schemas.openxmlformats.org/officeDocument/2006/relationships/slide" Target="slides/slide5.xml"/><Relationship Id="R6fc57ff733f54d34" Type="http://schemas.openxmlformats.org/officeDocument/2006/relationships/slide" Target="slides/slide3.xml"/><Relationship Id="R7373e5f590c14ef9" Type="http://schemas.openxmlformats.org/officeDocument/2006/relationships/slideMaster" Target="slideMasters/slideMaster1.xml"/><Relationship Id="R9de363d4cbb7403c" Type="http://schemas.openxmlformats.org/officeDocument/2006/relationships/slide" Target="slides/slide1.xml"/><Relationship Id="Ra4fc954efe97494a" Type="http://schemas.openxmlformats.org/officeDocument/2006/relationships/slide" Target="slides/slide11.xml"/><Relationship Id="Rbb2d590f93aa459c" Type="http://schemas.openxmlformats.org/officeDocument/2006/relationships/viewProps" Target="viewProps.xml"/><Relationship Id="Rbd68cbb3448c4e64" Type="http://schemas.openxmlformats.org/officeDocument/2006/relationships/slide" Target="slides/slide7.xml"/><Relationship Id="Rdd3b82d4976642e3" Type="http://schemas.openxmlformats.org/officeDocument/2006/relationships/slide" Target="slides/slide9.xml"/><Relationship Id="Rf940aad22d7c438c" Type="http://schemas.openxmlformats.org/officeDocument/2006/relationships/slide" Target="slides/slide4.xml"/><Relationship Id="Rffde1b8ce1e3440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75e9703debcc449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707833a2b12432b" Type="http://schemas.openxmlformats.org/officeDocument/2006/relationships/notesMaster" Target="../notesMasters/notesMaster1.xml"/><Relationship Id="R9f5cc767c35442a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1505217d0f844a1" Type="http://schemas.openxmlformats.org/officeDocument/2006/relationships/slide" Target="../slides/slide2.xml"/><Relationship Id="Rc691f789c297456b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88c230a0c5184f1f" Type="http://schemas.openxmlformats.org/officeDocument/2006/relationships/slide" Target="../slides/slide3.xml"/><Relationship Id="Ra33fa6dd5938423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8e7df1657465466c" Type="http://schemas.openxmlformats.org/officeDocument/2006/relationships/slide" Target="../slides/slide4.xml"/><Relationship Id="Rd14b288b1315437f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b8cf1ae4e58842d2" Type="http://schemas.openxmlformats.org/officeDocument/2006/relationships/notesMaster" Target="../notesMasters/notesMaster1.xml"/><Relationship Id="Rd4c385b340e34409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fa1b32ec4954552" Type="http://schemas.openxmlformats.org/officeDocument/2006/relationships/notesMaster" Target="../notesMasters/notesMaster1.xml"/><Relationship Id="Rfc42e5eb04f5492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cd1cc6fb1984060" Type="http://schemas.openxmlformats.org/officeDocument/2006/relationships/notesMaster" Target="../notesMasters/notesMaster1.xml"/><Relationship Id="R8c7bfb63761643b4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1281c91ac0249cf" Type="http://schemas.openxmlformats.org/officeDocument/2006/relationships/slide" Target="../slides/slide8.xml"/><Relationship Id="R35d592c487d64d0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30e6df218450434d" Type="http://schemas.openxmlformats.org/officeDocument/2006/relationships/notesMaster" Target="../notesMasters/notesMaster1.xml"/><Relationship Id="Rb8e92362c80e4340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fde1818dd0e4c10" Type="http://schemas.openxmlformats.org/officeDocument/2006/relationships/slide" Target="../slides/slide10.xml"/><Relationship Id="Rbd74cfb471874a8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40ed534097b449b6" Type="http://schemas.openxmlformats.org/officeDocument/2006/relationships/slide" Target="../slides/slide11.xml"/><Relationship Id="R81e97a0cd4904fe6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6bec56332bdf4bb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c15d6ac40644fa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1254d96717b4d4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f35992ee16d496b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a0ad39cfe1942e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0a82d6bd17144e7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3a51c39b66340a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bbab7e4a221347c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7dc4e98127e411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ae59b5f4ee8430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5a81846b7406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2B2D74-6ED3-4B45-8DDD-868965D576C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AAF2D61-7C79-4FBB-8969-2A35C0CB3C8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DB53EB-4DCD-464D-AF43-238022D043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8D810C-299C-4FD7-8501-55950C7DEF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B445DC-65C6-4376-A991-04794DD403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7505F1-E7DA-4A55-93D8-DCA86DBD12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889883-312E-43AE-9C8E-5DEAFCB6691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CC0DAB-4BFD-40B9-98A1-17669356B7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95D922-4B28-4F03-8141-DDCF257AD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161689-A4B3-43BF-AEEE-3612CACE7C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E61CAF-F053-44EA-B206-E6B28411B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4BC8B5F-3D9B-42D7-ADED-F2D0254733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1BAAF62-652A-4FC4-980C-A821CD389D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9F3E94-AFC4-491B-A3D5-8F54464213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575810-EA10-4275-A318-3239FD8692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94DCBF-AE30-4E6E-84E6-92FE468594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02D592D-6E97-4A00-87CA-5F65C88C238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686713A-5284-4A95-8FB5-A3402D4DF3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0C6E6B2-435B-4CC5-98E2-35C079418C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3806A7-55E6-4604-942D-0B320569AE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E02924-E577-4BC1-9255-F5D0145F3F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0FDDA1-8EDB-4D72-A552-6AA9E54E8C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F651D9-3CB5-47D8-9EB5-3053B8D2BD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EEDAF77-78C2-4B92-AD33-13FC44C5A2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886988B-D1EF-4408-B2EF-E79F2C65285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D8F868D-7403-4A7A-A71F-F8CEBF2F5F9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4DCFC29-3E2C-4FEC-ABA5-B664F91A49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9C08CD7-4F47-4AA3-8954-3FE55008D1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44F3FB6-0B89-47CD-8841-7FF2AC247A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7E9D4A-5677-431F-8E62-4FDEEAEEA1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7811D58-85AD-42E3-90A1-E9BBE9F1F0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63930C1-A839-488C-8D1D-A184BAA717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0B0AF71-E8B7-401C-8443-8D5B0459D7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E570997-17A2-4467-A240-365D9E47C9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F7AFAA2-57A5-4962-8A94-394E796DD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ABB0A47-14F1-4D47-AEA9-CD79CB0672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FE5A69-9309-442B-A8CF-78256DD89D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61DAACE-BB6C-4B37-922D-F493491372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E0FE72-1F05-4ECD-B7E0-9BC814ECE18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4356B78-EF04-4DF7-917A-8EF313256B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A030FD-37DA-48F5-B8B5-42294CDE44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279F6E-6671-4C78-9EF8-986F429BE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0B2573-015F-4924-B649-88FCA7F26B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A107DF4-922A-4670-8ABD-4E00E839CF6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47C3841-9BF7-458F-B2E6-1EEEC80EE4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5A5ECE0-2A24-4643-9EBE-F9075E4449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0752666-5848-4A52-AD99-0545F6BD3A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F5E7456-3BD5-4D8F-AEE7-3F4F607EC8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B8EF91-9B1F-48BA-BCF5-F2F6C774A8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11A71ED-8DC2-4DEC-B5A2-E3F6BFBAEF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2E68E4-CE35-4FE2-B2C7-612177FE48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5695F7-E390-42A5-BE11-7AB6CC1BE8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36A0E14-B505-4C60-A7F0-AD291E583B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070699-A85A-46BE-8BAA-CDDAB12BD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C276293-F468-426A-A482-3B776A578D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23CF1B5-BE8D-4336-BBD5-CF770D4582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0F7C9D4-B358-41A0-A939-4B060818E7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7F9AAD-C501-4163-A9D3-F5E1D60163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36c821d3d01496d" Type="http://schemas.openxmlformats.org/officeDocument/2006/relationships/slideLayout" Target="../slideLayouts/slideLayout2.xml"/><Relationship Id="R15801e2d9b0441c0" Type="http://schemas.openxmlformats.org/officeDocument/2006/relationships/slideLayout" Target="../slideLayouts/slideLayout8.xml"/><Relationship Id="R3bfb61d1c08943f2" Type="http://schemas.openxmlformats.org/officeDocument/2006/relationships/slideLayout" Target="../slideLayouts/slideLayout3.xml"/><Relationship Id="R44fd546e3db24fea" Type="http://schemas.openxmlformats.org/officeDocument/2006/relationships/theme" Target="theme/theme2.xml"/><Relationship Id="R4c1f6b98c84a490c" Type="http://schemas.openxmlformats.org/officeDocument/2006/relationships/slideLayout" Target="../slideLayouts/slideLayout11.xml"/><Relationship Id="R4cf893d3bb32483a" Type="http://schemas.openxmlformats.org/officeDocument/2006/relationships/slideLayout" Target="../slideLayouts/slideLayout1.xml"/><Relationship Id="R5c5d1863e8984ac2" Type="http://schemas.openxmlformats.org/officeDocument/2006/relationships/slideLayout" Target="../slideLayouts/slideLayout4.xml"/><Relationship Id="R8973fb3dceb64a31" Type="http://schemas.openxmlformats.org/officeDocument/2006/relationships/slideLayout" Target="../slideLayouts/slideLayout9.xml"/><Relationship Id="R940a330ccd4a4105" Type="http://schemas.openxmlformats.org/officeDocument/2006/relationships/slideLayout" Target="../slideLayouts/slideLayout10.xml"/><Relationship Id="Rd39c567b52684156" Type="http://schemas.openxmlformats.org/officeDocument/2006/relationships/slideLayout" Target="../slideLayouts/slideLayout6.xml"/><Relationship Id="Rdc112fac0c7e4c7c" Type="http://schemas.openxmlformats.org/officeDocument/2006/relationships/slideLayout" Target="../slideLayouts/slideLayout5.xml"/><Relationship Id="Rf20402c821524542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2548B5-CD15-4C4A-B07E-857FC451FB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DD24F-FFAC-4A2C-91E3-D1BD170D7A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E6590C-46AE-46EF-BE3F-DE48F7400E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B5F0D97-A111-4FFD-977B-61B99F06D66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786328-749B-430D-889C-70A9E8380E5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f893d3bb32483a"/>
    <p:sldLayoutId xmlns:r="http://schemas.openxmlformats.org/officeDocument/2006/relationships" id="2147483650" r:id="R136c821d3d01496d"/>
    <p:sldLayoutId xmlns:r="http://schemas.openxmlformats.org/officeDocument/2006/relationships" id="2147483651" r:id="R3bfb61d1c08943f2"/>
    <p:sldLayoutId xmlns:r="http://schemas.openxmlformats.org/officeDocument/2006/relationships" id="2147483652" r:id="R5c5d1863e8984ac2"/>
    <p:sldLayoutId xmlns:r="http://schemas.openxmlformats.org/officeDocument/2006/relationships" id="2147483653" r:id="Rdc112fac0c7e4c7c"/>
    <p:sldLayoutId xmlns:r="http://schemas.openxmlformats.org/officeDocument/2006/relationships" id="2147483654" r:id="Rd39c567b52684156"/>
    <p:sldLayoutId xmlns:r="http://schemas.openxmlformats.org/officeDocument/2006/relationships" id="2147483655" r:id="Rf20402c821524542"/>
    <p:sldLayoutId xmlns:r="http://schemas.openxmlformats.org/officeDocument/2006/relationships" id="2147483656" r:id="R15801e2d9b0441c0"/>
    <p:sldLayoutId xmlns:r="http://schemas.openxmlformats.org/officeDocument/2006/relationships" id="2147483657" r:id="R8973fb3dceb64a31"/>
    <p:sldLayoutId xmlns:r="http://schemas.openxmlformats.org/officeDocument/2006/relationships" id="2147483658" r:id="R940a330ccd4a4105"/>
    <p:sldLayoutId xmlns:r="http://schemas.openxmlformats.org/officeDocument/2006/relationships" id="2147483659" r:id="R4c1f6b98c84a490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1336d4834c342aa" Type="http://schemas.openxmlformats.org/officeDocument/2006/relationships/slideLayout" Target="../slideLayouts/slideLayout7.xml"/><Relationship Id="Rf3e50622bc43402a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3cfd251b40ef4b06" Type="http://schemas.openxmlformats.org/officeDocument/2006/relationships/slideLayout" Target="../slideLayouts/slideLayout7.xml"/><Relationship Id="Rbdf5782f8aba414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c95eaa2010949ee" Type="http://schemas.openxmlformats.org/officeDocument/2006/relationships/notesSlide" Target="../notesSlides/notesSlide3.xml"/><Relationship Id="R4472a32a56ee49a8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a8e6843a00074b72" Type="http://schemas.openxmlformats.org/officeDocument/2006/relationships/slideLayout" Target="../slideLayouts/slideLayout7.xml"/><Relationship Id="Rf0afe836a2ce451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28f84f2135c48c5" Type="http://schemas.openxmlformats.org/officeDocument/2006/relationships/notesSlide" Target="../notesSlides/notesSlide5.xml"/><Relationship Id="Rec42ede0855c4377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9b96d9aabed14301" Type="http://schemas.openxmlformats.org/officeDocument/2006/relationships/notesSlide" Target="../notesSlides/notesSlide6.xml"/><Relationship Id="Rab23b5de6ee246b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93b6857b0a0f4387" Type="http://schemas.openxmlformats.org/officeDocument/2006/relationships/notesSlide" Target="../notesSlides/notesSlide7.xml"/><Relationship Id="R94e9f5683d234ba4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1d20c09f8e2c40e4" Type="http://schemas.openxmlformats.org/officeDocument/2006/relationships/notesSlide" Target="../notesSlides/notesSlide8.xml"/><Relationship Id="Re55c754da0f344a3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04d5cc42d4bc4734" Type="http://schemas.openxmlformats.org/officeDocument/2006/relationships/notesSlide" Target="../notesSlides/notesSlide9.xml"/><Relationship Id="R7aaadca3ef0f4524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c73a8bcd3d894766" Type="http://schemas.openxmlformats.org/officeDocument/2006/relationships/notesSlide" Target="../notesSlides/notesSlide10.xml"/><Relationship Id="Rfb662bca05d6482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2d0c1a58b8d64ae7" Type="http://schemas.openxmlformats.org/officeDocument/2006/relationships/notesSlide" Target="../notesSlides/notesSlide11.xml"/><Relationship Id="R51ccc4ac23234390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31160B4-17DB-4BA2-8051-6C2D6D48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1828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B7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8C5FE1-8274-4D43-AEF5-0D4E2781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86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CB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CC262B-DE62-48DA-AECA-C9F8738F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62600"/>
            <a:ext cx="952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B7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E777088-33DA-440C-9310-3ABF0F8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CB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F7337D-0D6F-4EBB-8C33-D2F000FA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005840"/>
            <a:ext cx="7680960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8FC4F2"/>
                </a:solidFill>
                <a:latin typeface="Aptos"/>
                <a:ea typeface="Aptos"/>
                <a:cs typeface="Aptos"/>
              </a:rPr>
              <a:t>CLOUD COMPUTING • AWS PROJECT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C3DA3AA-E965-49C9-84B9-D3A5B4A0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786384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Cross-Account</a:t>
            </a:r>
            <a:br>
              <a:rPr sz="34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3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Access Grant Display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E175D31-0B07-4717-A283-DBE1D0B7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657600"/>
            <a:ext cx="69494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serverless request-monitoring prototype with MQTT, Lambda, S3, and Streamlit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5A8293-C072-441B-9986-016E58AD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074920"/>
            <a:ext cx="6400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AWS Region: us-east-1  |  Dashboard: Python + Streamlit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10BEEA-0CBD-47DE-B4AB-69203A1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989320"/>
            <a:ext cx="6858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Project Presentation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65806B3-BE61-4001-A64E-D31A422F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8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717709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4C2350-5C3F-4F7D-8C8A-C471208C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Project Overview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A69D5A-87D3-424F-9DA3-974B6804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2BC409-C81A-4337-806E-40AA58A2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What the prototype does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F4E694-0DBB-4197-BD73-4EB153A3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9D092D0-DFB9-487B-ACE8-E53E5B43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3429000" cy="1417320"/>
          </a:xfrm>
          <a:prstGeom xmlns:a="http://schemas.openxmlformats.org/drawingml/2006/main" prst="roundRect">
            <a:avLst>
              <a:gd name="adj" fmla="val 9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16B131-23E2-48B6-97FA-8E10A99B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64008" cy="1271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4129B79-25E9-4055-8E58-C9C5239D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10512"/>
            <a:ext cx="30632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01  Receive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D3B9C00-BA0F-4D03-9C79-029F49B7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212848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Accept JSON requests through AWS IoT Core MQTT.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0D79EC0-77D0-42D2-B5F2-5DD651A5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45920"/>
            <a:ext cx="3429000" cy="1417320"/>
          </a:xfrm>
          <a:prstGeom xmlns:a="http://schemas.openxmlformats.org/drawingml/2006/main" prst="roundRect">
            <a:avLst>
              <a:gd name="adj" fmla="val 9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8C48A2C-B15C-440B-A272-E9249602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719072"/>
            <a:ext cx="64008" cy="1271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97A153-9F3D-4F4A-B2B9-93002E93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810512"/>
            <a:ext cx="30632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02  Process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619CE6-5995-4E5C-8615-DF15565D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212848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Route requests to AWS Lambda for identity inspection and S3 checks.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5B52043-8737-4935-87F4-34543B70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645920"/>
            <a:ext cx="3429000" cy="1417320"/>
          </a:xfrm>
          <a:prstGeom xmlns:a="http://schemas.openxmlformats.org/drawingml/2006/main" prst="roundRect">
            <a:avLst>
              <a:gd name="adj" fmla="val 9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8619748-B8F0-4768-AC6C-660E0E40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719072"/>
            <a:ext cx="64008" cy="1271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7CAE193-05B3-4530-84D5-618CCF00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810512"/>
            <a:ext cx="30632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03  Monitor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2C5674C-CB44-4B76-A84E-0B9B8AD8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12848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Store JSON results in S3 and present them in a Streamlit dashboard.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715A545-F21F-4904-A1EB-2F13D421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10424160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9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Core idea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01AFC9C-4388-4FA5-89D1-A5B32556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60520"/>
            <a:ext cx="10241280" cy="707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2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Create a visible, auditable request-processing flow so users can review request status and stored results from one interface.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A15DC25-DC7D-4CD9-A28E-12C806CA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802258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885A81A-B381-4261-A442-B0DD1357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Problem Statement &amp; Objectives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3925879-8C70-4261-95B5-5B292067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71B37FB-9EEA-4A3B-BE24-CBBF86AF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Why this project was developed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5F08768-FDE8-4077-BF05-3B660F2D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9F4B6BF-325C-4EDD-9E16-ADD66598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181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Request processing and results can be spread across multiple cloud services.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 centralized view helps users inspect request IDs, processing status, and stored results.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Use serverless AWS components to connect messaging, processing, and storage.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Provide a dashboard with request history, metrics, details, charts, and CSV export.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Clearly distinguish monitoring results from proof of cross-account authorization.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55F520E-FB67-44D4-B526-264E250F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515600" cy="502920"/>
          </a:xfrm>
          <a:prstGeom xmlns:a="http://schemas.openxmlformats.org/drawingml/2006/main" prst="roundRect">
            <a:avLst>
              <a:gd name="adj" fmla="val 26515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F1D49A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B91304F-3582-40A9-9667-50EA154D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733288"/>
            <a:ext cx="1005840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B87412"/>
                </a:solidFill>
                <a:latin typeface="Aptos"/>
                <a:ea typeface="Aptos"/>
                <a:cs typeface="Aptos"/>
              </a:rPr>
              <a:t>Project scope: software-only prototype; no embedded physical systems.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1C329FD-0681-4859-945D-7A986450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7626814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D2A749-B3EC-4FB2-8D61-2416D92D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79CB46-4C27-475E-BB1F-7537C061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ED8A0F-D529-4FEB-93B9-1C83BA4C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Request validation, identity checks, storage, and monitoring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BCB7B1A-7F51-4AF2-ADF0-A20884E5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5B4105A-EA53-4207-AE15-A8221CF0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8447CD-3263-4ECF-ACAA-5998C466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MQTT Client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79BCF4A-AD94-4459-BA4C-20978A49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Publish request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7B3A62F-F777-4C86-BE2F-B474EFC6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071B7BB-71EF-49CA-9538-AEB38FB3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2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IoT Core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468162B-659A-44A5-A0EA-8834A959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2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Request topic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6AF2103-C6D1-4E80-BDC4-DE795D1A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84327CA-AE1A-476A-8D25-46F6CAEB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IoT Rule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74CED59-9DD8-4FEB-9094-133275A6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Route message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92FDD06-2DC4-4F0A-A040-89BD634D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25C1E99-AD55-4F7A-9483-96AB73C3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Lambda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B9D977-1720-4729-A408-8C0C4A13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Validate + process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B85C52D-7B4E-4B81-9042-DC21DC7D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874519"/>
            <a:ext cx="201168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2F4AA5B-79DC-4A47-AF26-1BDBB211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72" y="1984248"/>
            <a:ext cx="186537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Amazon S3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27C37D-213D-48DC-B815-2192C93B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72" y="2286000"/>
            <a:ext cx="186537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Store JSON</a:t>
            </a:r>
          </a:p>
        </p:txBody>
      </p:sp>
      <p:sp>
        <p:nvSpPr>
          <p:cNvPr id="21" name="Connector 20">
            <a:extLst xmlns:a="http://schemas.openxmlformats.org/drawingml/2006/main">
              <a:ext uri="{FF2B5EF4-FFF2-40B4-BE49-F238E27FC236}">
                <a16:creationId xmlns:a16="http://schemas.microsoft.com/office/drawing/2014/main" id="{FB74F61B-B14B-41E4-AFB3-FFE72044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22" name="Connector 21">
            <a:extLst xmlns:a="http://schemas.openxmlformats.org/drawingml/2006/main">
              <a:ext uri="{FF2B5EF4-FFF2-40B4-BE49-F238E27FC236}">
                <a16:creationId xmlns:a16="http://schemas.microsoft.com/office/drawing/2014/main" id="{0CF35B5D-2398-47DB-A5F7-F51CB024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F691DCAB-3D5D-4F59-AC67-6D5CA842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24" name="Connector 23">
            <a:extLst xmlns:a="http://schemas.openxmlformats.org/drawingml/2006/main">
              <a:ext uri="{FF2B5EF4-FFF2-40B4-BE49-F238E27FC236}">
                <a16:creationId xmlns:a16="http://schemas.microsoft.com/office/drawing/2014/main" id="{1B46E7C1-5E94-4DFB-8792-24B34641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4F10C87-004B-40FF-909D-069E0E90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57600"/>
            <a:ext cx="2468880" cy="1051560"/>
          </a:xfrm>
          <a:prstGeom xmlns:a="http://schemas.openxmlformats.org/drawingml/2006/main" prst="roundRect">
            <a:avLst>
              <a:gd name="adj" fmla="val 12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4EB553E5-8319-46BC-80F0-1AA60A9A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30752"/>
            <a:ext cx="64008" cy="905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721AE5E-DC4D-4795-A7DF-175B7065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3822191"/>
            <a:ext cx="210312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STS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1D902B9-75B9-4381-8FC1-702D8FC3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4224528"/>
            <a:ext cx="21031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Get current caller identity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5D504089-7491-4A26-BE4D-CB68B893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657600"/>
            <a:ext cx="2468880" cy="1051560"/>
          </a:xfrm>
          <a:prstGeom xmlns:a="http://schemas.openxmlformats.org/drawingml/2006/main" prst="roundRect">
            <a:avLst>
              <a:gd name="adj" fmla="val 12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64092BF2-83CE-4F52-A159-533426EB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730752"/>
            <a:ext cx="64008" cy="905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29FC937-B427-44A9-8284-2F360150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7" y="3822191"/>
            <a:ext cx="210312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MQTT Response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4CD8904-6731-410C-B71F-C53C1FE9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7" y="4224528"/>
            <a:ext cx="21031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Publish processing result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A12490FD-B4DE-4962-A759-99AD5E0D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657600"/>
            <a:ext cx="2331720" cy="1051560"/>
          </a:xfrm>
          <a:prstGeom xmlns:a="http://schemas.openxmlformats.org/drawingml/2006/main" prst="roundRect">
            <a:avLst>
              <a:gd name="adj" fmla="val 12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94CF1A16-AB1C-49A6-AB88-BA5B533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730752"/>
            <a:ext cx="64008" cy="905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6D97A13-C55E-4EA8-91BC-3AB724CE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3822191"/>
            <a:ext cx="196596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51DF854-AE26-4704-9DB1-2B102915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4224528"/>
            <a:ext cx="19659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Read S3 JSON; show metrics</a:t>
            </a:r>
          </a:p>
        </p:txBody>
      </p:sp>
      <p:sp>
        <p:nvSpPr>
          <p:cNvPr id="37" name="Connector 36">
            <a:extLst xmlns:a="http://schemas.openxmlformats.org/drawingml/2006/main">
              <a:ext uri="{FF2B5EF4-FFF2-40B4-BE49-F238E27FC236}">
                <a16:creationId xmlns:a16="http://schemas.microsoft.com/office/drawing/2014/main" id="{CBF5E709-AE99-40B9-A7E2-BD031D5F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892040" y="2624328"/>
            <a:ext cx="3429000" cy="103327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38" name="Connector 37">
            <a:extLst xmlns:a="http://schemas.openxmlformats.org/drawingml/2006/main">
              <a:ext uri="{FF2B5EF4-FFF2-40B4-BE49-F238E27FC236}">
                <a16:creationId xmlns:a16="http://schemas.microsoft.com/office/drawing/2014/main" id="{B68682D6-9A51-470D-828E-5C26F963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726679" y="2624328"/>
            <a:ext cx="594361" cy="103327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39" name="Connector 38">
            <a:extLst xmlns:a="http://schemas.openxmlformats.org/drawingml/2006/main">
              <a:ext uri="{FF2B5EF4-FFF2-40B4-BE49-F238E27FC236}">
                <a16:creationId xmlns:a16="http://schemas.microsoft.com/office/drawing/2014/main" id="{D6AE68CF-B4E2-474F-A51D-D938AAC7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69880" y="2624328"/>
            <a:ext cx="182880" cy="103327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A1944DD-B185-4055-9114-AF95D51F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698480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Topics: crossaccount/request  •  crossaccount/response     |     S3 prefix: access-results/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CD2AFC3-55C6-4332-86AC-EBDA1ABE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06440"/>
            <a:ext cx="1069848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B87412"/>
                </a:solidFill>
                <a:latin typeface="Aptos"/>
                <a:ea typeface="Aptos"/>
                <a:cs typeface="Aptos"/>
              </a:rPr>
              <a:t>Invalid request IDs are rejected; target-account role assumption remains unverified.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AA9243B6-2D48-48A6-9921-4188AFAB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20546821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E324F89-1949-4B0C-818D-914B880F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Components &amp; Configuration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C08D25C-6D5D-4F9D-A221-719EA893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1C4C438-7357-4452-8F30-1949A071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Resources used in the prototype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C0BFC91-F4C5-4959-BE5D-C90B6B9A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E6F0B2F-76D5-46A0-B5E6-E786B72E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1D4603D-F013-4E9B-9017-772C6454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7335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C7B3235-B119-4CDC-AEF1-CA34508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6479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IoT Core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13D3F5-98ED-4036-BBC7-B1182584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6712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Rule: CrossAccountTriggerRule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Request: crossaccount/request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Response: crossaccount/response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4FC1D8C-24F1-46E2-B5F6-B55685DE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0020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7572FA1-F816-47A2-ABAC-E0BC421F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7335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7106E5-2E73-494C-A3C1-1FACB5BB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76479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Lambda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847DBB0-B3A0-4133-B149-8C973E7D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16712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Function: CrossAccountAccessLambda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Execution role: LabRole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Uses STS identity lookup and S3 operations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5261B85-B94B-48A4-9997-9608B78F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BE1A4D1-6389-46E3-8190-9DED5DB1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2783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40776D1-E811-4086-A216-36F6D04C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927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Amazon S3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ADAEB6F-B0F8-421D-9235-FF4A3FFD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2160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Bucket: access-grant-demo-150202114394-2026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Prefix: access-results/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Stores request-result JSON files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0A1B6EE-D56E-46D6-9CDE-2FDEDAC4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5468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6F6A3C0-EE97-4C70-AAF4-5D6E920C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2783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52E913C-2E81-460E-8387-C95BE18B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31927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Streamlit Dashboard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8C51898-50AE-4652-B195-9E680D53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72160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Python, Boto3, Pandas, Plotly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Automatic rerun interval: 30 seconds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CSV request-history export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599DB80-1171-4CCE-895C-6DFD97A0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80"/>
            <a:ext cx="1042416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Region: us-east-1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5662D31-CFD2-458F-BD3D-BCCDD8F3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515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Temporary AWS Academy credentials must remain private and may need refreshing when they expire.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6B496F-3D4A-4A6C-B797-09A5D0EF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2002856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8EA269-1222-49F1-BF35-67F68252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Request Processing Workflow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6635C36-B71A-498C-BF5C-4DDFE351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227B0F4-2974-472A-9CF6-7932D8F1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From MQTT input to dashboard visibility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6DECAD0-6263-4305-B857-8EA88187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79873C-43D5-4A75-84BF-8091D7F3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63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1. A user publishes a JSON request to crossaccount/request.
2. AWS IoT Core evaluates the message against the configured IoT rule.
3. The rule invokes CrossAccountAccessLambda.
4. Lambda validates requestId; invalid IDs are marked FAILURE and skip identity/S3 checks.
5. Valid requests proceed to STS caller-identity lookup and an S3 access check.
6. Lambda stores a JSON result under access-results/ and publishes to crossaccount/response.
7. Streamlit reads stored JSON objects and presents request history, metrics, and details.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0B8283-DEE8-4647-9E76-81D838CF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8242355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B798C29-BA34-4BFA-9E48-0314F359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Monitoring Dashboard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8C42CB-DE9E-4134-8C18-4BF6EB72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2BBA2C-B00B-4DD9-A8FF-8335A2E4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Features implemented in Streamlit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E765AAF-947B-4BE7-914F-9499327C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365C1C9-9D81-4E58-86DF-A15F94BE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A9E06B9-D733-4FDF-8D1F-CD247ACE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CB8E3AE-B3EE-4FC8-B325-01122F20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1051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Summary metrics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4B8B29-FCAB-4F3E-9253-B6722E1F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212848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Total, successful, failed requests, and successful S3 checks.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2D7253B-903F-45C6-B799-5C3ADC00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4592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93FCF5F-D910-4853-9141-720A7065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71907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5637691-9B27-4F6A-8C38-E22A1A7D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181051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Request history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A1ABAB2-1849-4193-9CFF-007074C4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2212848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Table of request IDs, timestamps, status, account, and storage information.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A519FFD-2D25-47FD-B776-42124C92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64592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92F9DA5-6B08-4EFB-9015-2BD5D9BF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71907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6FA1A3F-724F-4FA1-B3B3-B5E88B30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81051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Request inspector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0BBEC78-D27F-4B82-882F-F4ACA658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212848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Select a request and review the recorded JSON details.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C0D3BEE-0896-427B-8A07-49F5EB15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3756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3BAE6B2-9389-4594-8F0D-BC61DCA9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1071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D5E0E66-5313-4849-995B-85B92010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0215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Charts &amp; filters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478954E-6607-49C9-AB3E-BC9C33A5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04487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Visualize request status and narrow records with search or status filters.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645F7A1-2262-41C4-A0A1-A56F50C0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33756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6931874-4F6E-46ED-B81D-0A89C92E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41071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1DDB6EC-A97C-4972-834F-24B63900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350215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CSV export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AB69E81-DB1A-46D8-BCFC-811F00BD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3904487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Download the visible request-history data for offline review.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49B460A1-35D6-4D80-8533-4121DBC5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3756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44CCB1AC-CFAD-478C-8628-E59E1488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41071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4AA2A5F-5448-4619-865B-A68549A6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50215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Auto-refresh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1CBD5EDD-8B2D-4054-939B-43AB786F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904487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Reruns every 30 seconds; cached S3 results may update on the cache schedule.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225C847-8CC0-45E6-9F5D-C69C3264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66360"/>
            <a:ext cx="10424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Evidence screenshots: E07_Dashboard_Overview.png and E08_Request_Details.png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A5D3D201-FF0A-4603-BCD2-2639F67F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5023660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98577F-6FA1-4DB3-9384-9087D880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Testing &amp; Validation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1745CFC-BB29-4346-A169-3FA6509A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836074-2C43-492C-AA38-9A189D37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Recorded results from the prototype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0DB8C0-B93F-4559-8614-E9D1950D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25B841D-3A25-40C1-BE2B-89AF60C8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3246120" cy="1097280"/>
          </a:xfrm>
          <a:prstGeom xmlns:a="http://schemas.openxmlformats.org/drawingml/2006/main" prst="roundRect">
            <a:avLst>
              <a:gd name="adj" fmla="val 12153"/>
            </a:avLst>
          </a:prstGeom>
          <a:solidFill xmlns:a="http://schemas.openxmlformats.org/drawingml/2006/main">
            <a:srgbClr val="E6F5EC"/>
          </a:solidFill>
          <a:ln xmlns:a="http://schemas.openxmlformats.org/drawingml/2006/main" w="9525">
            <a:solidFill>
              <a:srgbClr val="C5E5D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B9ADFEB-3997-4C51-A19F-5542E5FA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64008" cy="950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36693A8-552D-44D9-BB0E-7CCD40E9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673351"/>
            <a:ext cx="2880360" cy="295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14 Passed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9FFF88-6FB3-414D-AF67-78035DC0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75688"/>
            <a:ext cx="28803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Unconditionally passed tests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8D4F24A-F16E-4496-A5F8-C0A9098A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08760"/>
            <a:ext cx="3246120" cy="1097280"/>
          </a:xfrm>
          <a:prstGeom xmlns:a="http://schemas.openxmlformats.org/drawingml/2006/main" prst="roundRect">
            <a:avLst>
              <a:gd name="adj" fmla="val 12153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F1D49A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C76B170-AD4C-429E-A066-1E179905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81912"/>
            <a:ext cx="64008" cy="950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F3D76F8-D323-4240-B3B6-6F314927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1673351"/>
            <a:ext cx="2880360" cy="295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1 Qualified — Retest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B11EF00-FA82-4772-9EA7-B3C0583B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075688"/>
            <a:ext cx="28803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TC-04: standalone empty JSON {} needs retesting.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3BA5284-63B8-4042-B64D-D88AB20F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8760"/>
            <a:ext cx="3246120" cy="1097280"/>
          </a:xfrm>
          <a:prstGeom xmlns:a="http://schemas.openxmlformats.org/drawingml/2006/main" prst="roundRect">
            <a:avLst>
              <a:gd name="adj" fmla="val 12153"/>
            </a:avLst>
          </a:prstGeom>
          <a:solidFill xmlns:a="http://schemas.openxmlformats.org/drawingml/2006/main">
            <a:srgbClr val="FCEAEA"/>
          </a:solidFill>
          <a:ln xmlns:a="http://schemas.openxmlformats.org/drawingml/2006/main" w="9525">
            <a:solidFill>
              <a:srgbClr val="E9C1C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CB31E23-4EEA-4E6F-B624-0E07F230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81912"/>
            <a:ext cx="64008" cy="950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3C3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2BFA4DB-2723-4DFB-B5B3-CD90E873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673351"/>
            <a:ext cx="2880360" cy="295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2 Unresolved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CC3C1B1-A737-4D02-93B9-D6746EF5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2075688"/>
            <a:ext cx="28803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TC-05 inconclusive; TC-06 S3 denial not executed.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BD80997-91EB-4795-BC60-9B982854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10241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End-to-end validation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DE14A83-6263-4678-8E58-DF5C3626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10332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Verified flow: MQTT request → Lambda processing → S3 result → dashboard visibility.</a:t>
            </a:r>
            <a:br>
              <a:rPr sz="15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538994E-374F-4A87-9998-53A5FABD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0"/>
            <a:ext cx="1033272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23866D"/>
                </a:solidFill>
                <a:latin typeface="Aptos"/>
                <a:ea typeface="Aptos"/>
                <a:cs typeface="Aptos"/>
              </a:rPr>
              <a:t>The end-to-end request flow and dashboard visibility were confirmed working; full cross-account role assumption remains unverified.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EE011B9-A2A8-4B90-8348-59C1CC08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77840"/>
            <a:ext cx="103327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Full test-case details: docs/test-results/test_cases.md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944494C-2027-404E-9A85-78C82003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8030246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561A11C-2CF2-4620-8513-B4A34BDC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Limitations &amp; Security Considerations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4B2324-DEB1-4B8A-AC44-54A03BDD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763253-4430-4C2C-9F15-52388D8B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What the current implementation does—and does not—prove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4D98D79-414E-4CD1-AFFD-43FB88F5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576C5C-53B9-42AE-8142-80ED7E25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63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Cross-account role assumption into the intended target AWS account has not been verified.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AWS Academy IAM restrictions limited the ability to configure or modify roles and policies.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STS GetCallerIdentity identifies the current caller; it does not prove cross-account authorization.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Malformed JSON rejection was not traced to a confirmed component.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S3 access-denied handling was inspected in code but not tested through a live denial.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Dashboard access depends on valid AWS credentials and permissions to list/read the S3 objects.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0598139-807E-4554-A7EB-49593880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515600" cy="502920"/>
          </a:xfrm>
          <a:prstGeom xmlns:a="http://schemas.openxmlformats.org/drawingml/2006/main" prst="roundRect">
            <a:avLst>
              <a:gd name="adj" fmla="val 26515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F1D49A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21B977C-57D8-43AB-96DF-D9725270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733288"/>
            <a:ext cx="1005840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B87412"/>
                </a:solidFill>
                <a:latin typeface="Aptos"/>
                <a:ea typeface="Aptos"/>
                <a:cs typeface="Aptos"/>
              </a:rPr>
              <a:t>Describe this deliverable as an access-monitoring prototype, not a fully verified cross-account authorization system.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8BA15F-EB6A-4D16-894E-D8FD8C42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9412874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1B6345-496F-4470-96F9-DFAD0DB5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Future Enhancements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5EBF62-7FA2-4272-A545-A0D19D5D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E05DA8-6393-44A7-A6BA-ECA2C323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Possible next steps in an authorized AWS environment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3A7CB64-5C20-4982-9921-0B227538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9087E0-94A9-4B7B-AF17-A97E9B1E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9255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Configure and validate cross-account trust and role assumption with approved IAM permissions.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Add stronger request validation and explicit malformed-input handling.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Run controlled negative tests for S3 access denial and other AWS service failures.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Improve structured logging, request correlation, and failure alerts.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Add date-range filters, richer reporting, and more detailed dashboard analytics.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Review authentication, data retention, least privilege, and deployment requirements before production use.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D64897-D1C9-4100-ADE1-EAB65941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3293476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42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AFAF1F-FE7A-4844-AA43-B8F13D47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94360"/>
            <a:ext cx="10607040" cy="5394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7854CC-6CD4-4DAE-B2F4-01B2AB81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34440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A4E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59E85E8-E8A7-427C-B241-4B11B58E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241280" cy="737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prototype connects MQTT messaging, serverless processing, S3 result storage, and a monitoring dashboard.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6A99F9-19B4-4187-950A-0CC2C9E5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5468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Testing verified the main request-processing and monitoring workflow. Full cross-account role assumption remains unverified and is documented as a limitation.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FABB3C5-07B0-454F-83C6-2F7DC26B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57800"/>
            <a:ext cx="96012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pPr>
            <a:r>
              <a:rPr sz="2200" b="1">
                <a:solidFill>
                  <a:srgbClr val="8FC4F2"/>
                </a:solidFill>
                <a:latin typeface="Aptos"/>
                <a:ea typeface="Aptos"/>
                <a:cs typeface="Aptos"/>
              </a:rPr>
              <a:t>Thank you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3602BF2-F053-4A28-9A28-F9ABC1DE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8E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98868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2026-10-26T18:59:39.4200000Z</dcterms:created>
  <dcterms:modified xsi:type="dcterms:W3CDTF">2026-10-26T18:59:39.4200000Z</dcterms:modified>
</coreProperties>
</file>